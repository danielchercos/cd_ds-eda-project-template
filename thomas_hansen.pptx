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sldIdLst>
    <p:sldId id="256" r:id="rId2"/>
    <p:sldId id="265" r:id="rId3"/>
    <p:sldId id="257" r:id="rId4"/>
    <p:sldId id="258" r:id="rId5"/>
    <p:sldId id="259" r:id="rId6"/>
    <p:sldId id="260" r:id="rId7"/>
    <p:sldId id="262" r:id="rId8"/>
    <p:sldId id="264" r:id="rId9"/>
    <p:sldId id="26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43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545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B26"/>
        </a:solidFill>
        <a:effectLst/>
      </p:bgPr>
    </p:bg>
    <p:spTree>
      <p:nvGrpSpPr>
        <p:cNvPr id="1" name=""/>
        <p:cNvGrpSpPr/>
        <p:nvPr/>
      </p:nvGrpSpPr>
      <p:grpSpPr>
        <a:xfrm>
          <a:off x="0" y="0"/>
          <a:ext cx="0" cy="0"/>
          <a:chOff x="0" y="0"/>
          <a:chExt cx="0" cy="0"/>
        </a:xfrm>
      </p:grpSpPr>
      <p:sp>
        <p:nvSpPr>
          <p:cNvPr id="2" name="Shape 0"/>
          <p:cNvSpPr/>
          <p:nvPr/>
        </p:nvSpPr>
        <p:spPr>
          <a:xfrm>
            <a:off x="9784080" y="-1463040"/>
            <a:ext cx="3840480" cy="3840480"/>
          </a:xfrm>
          <a:prstGeom prst="ellipse">
            <a:avLst/>
          </a:prstGeom>
          <a:solidFill>
            <a:srgbClr val="B85042">
              <a:alpha val="45000"/>
            </a:srgbClr>
          </a:solidFill>
          <a:ln/>
        </p:spPr>
      </p:sp>
      <p:sp>
        <p:nvSpPr>
          <p:cNvPr id="3" name="Shape 1"/>
          <p:cNvSpPr/>
          <p:nvPr/>
        </p:nvSpPr>
        <p:spPr>
          <a:xfrm>
            <a:off x="-1280160" y="4846320"/>
            <a:ext cx="3108960" cy="3108960"/>
          </a:xfrm>
          <a:prstGeom prst="ellipse">
            <a:avLst/>
          </a:prstGeom>
          <a:solidFill>
            <a:srgbClr val="A7BEAE">
              <a:alpha val="35000"/>
            </a:srgbClr>
          </a:solidFill>
          <a:ln/>
        </p:spPr>
      </p:sp>
      <p:sp>
        <p:nvSpPr>
          <p:cNvPr id="4" name="Text 2"/>
          <p:cNvSpPr txBox="1"/>
          <p:nvPr/>
        </p:nvSpPr>
        <p:spPr>
          <a:xfrm>
            <a:off x="822960" y="2331720"/>
            <a:ext cx="10515600" cy="100584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SHOULD THOMAS HANSEN BUY NOW?</a:t>
            </a:r>
            <a:endParaRPr lang="en-US" sz="4000" dirty="0"/>
          </a:p>
        </p:txBody>
      </p:sp>
      <p:sp>
        <p:nvSpPr>
          <p:cNvPr id="5" name="Text 3"/>
          <p:cNvSpPr txBox="1"/>
          <p:nvPr/>
        </p:nvSpPr>
        <p:spPr>
          <a:xfrm>
            <a:off x="822960" y="3246120"/>
            <a:ext cx="9784080" cy="548640"/>
          </a:xfrm>
          <a:prstGeom prst="rect">
            <a:avLst/>
          </a:prstGeom>
          <a:noFill/>
          <a:ln/>
        </p:spPr>
        <p:txBody>
          <a:bodyPr wrap="square" lIns="0" tIns="0" rIns="0" bIns="0" rtlCol="0" anchor="ctr"/>
          <a:lstStyle/>
          <a:p>
            <a:pPr marL="0" indent="0" algn="l">
              <a:buNone/>
            </a:pPr>
            <a:r>
              <a:rPr lang="en-US" sz="1800" i="1" dirty="0">
                <a:solidFill>
                  <a:srgbClr val="E7E8D1"/>
                </a:solidFill>
                <a:latin typeface="Calibri" pitchFamily="34" charset="0"/>
                <a:ea typeface="Calibri" pitchFamily="34" charset="-122"/>
                <a:cs typeface="Calibri" pitchFamily="34" charset="-120"/>
              </a:rPr>
              <a:t>Space, timing, and location — finding where a family of 7 gets the most home for the money.</a:t>
            </a:r>
            <a:endParaRPr lang="en-US" sz="1800" dirty="0"/>
          </a:p>
        </p:txBody>
      </p:sp>
      <p:sp>
        <p:nvSpPr>
          <p:cNvPr id="6" name="Text 4"/>
          <p:cNvSpPr txBox="1"/>
          <p:nvPr/>
        </p:nvSpPr>
        <p:spPr>
          <a:xfrm>
            <a:off x="822960" y="5989320"/>
            <a:ext cx="10058400" cy="365760"/>
          </a:xfrm>
          <a:prstGeom prst="rect">
            <a:avLst/>
          </a:prstGeom>
          <a:noFill/>
          <a:ln/>
        </p:spPr>
        <p:txBody>
          <a:bodyPr wrap="square" lIns="0" tIns="0" rIns="0" bIns="0" rtlCol="0" anchor="ctr"/>
          <a:lstStyle/>
          <a:p>
            <a:pPr marL="0" indent="0" algn="r">
              <a:buNone/>
            </a:pPr>
            <a:r>
              <a:rPr lang="en-US" sz="1100" kern="0" spc="100" dirty="0">
                <a:solidFill>
                  <a:srgbClr val="8A7B73"/>
                </a:solidFill>
                <a:latin typeface="Calibri" pitchFamily="34" charset="0"/>
                <a:ea typeface="Calibri" pitchFamily="34" charset="-122"/>
                <a:cs typeface="Calibri" pitchFamily="34" charset="-120"/>
              </a:rPr>
              <a:t>BUYER PROFILE  ·  FAMILY OF 7  ·  BUDGET-CONSCIOUS  ·  KING COUNTY HOUSING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B85042"/>
          </a:solidFill>
          <a:ln/>
        </p:spPr>
      </p:sp>
      <p:sp>
        <p:nvSpPr>
          <p:cNvPr id="3" name="Shape 1"/>
          <p:cNvSpPr/>
          <p:nvPr/>
        </p:nvSpPr>
        <p:spPr>
          <a:xfrm>
            <a:off x="676656" y="630936"/>
            <a:ext cx="310896" cy="310896"/>
          </a:xfrm>
          <a:prstGeom prst="ellipse">
            <a:avLst/>
          </a:prstGeom>
          <a:solidFill>
            <a:srgbClr val="FFFFFF"/>
          </a:solidFill>
          <a:ln/>
        </p:spPr>
      </p:sp>
      <p:sp>
        <p:nvSpPr>
          <p:cNvPr id="4" name="Shape 2"/>
          <p:cNvSpPr/>
          <p:nvPr/>
        </p:nvSpPr>
        <p:spPr>
          <a:xfrm>
            <a:off x="768096" y="722376"/>
            <a:ext cx="128016" cy="128016"/>
          </a:xfrm>
          <a:prstGeom prst="ellipse">
            <a:avLst/>
          </a:prstGeom>
          <a:solidFill>
            <a:srgbClr val="A7BEAE"/>
          </a:solidFill>
          <a:ln/>
        </p:spPr>
      </p:sp>
      <p:sp>
        <p:nvSpPr>
          <p:cNvPr id="5" name="Text 3"/>
          <p:cNvSpPr txBox="1"/>
          <p:nvPr/>
        </p:nvSpPr>
        <p:spPr>
          <a:xfrm>
            <a:off x="1298448" y="484632"/>
            <a:ext cx="3200400" cy="365760"/>
          </a:xfrm>
          <a:prstGeom prst="rect">
            <a:avLst/>
          </a:prstGeom>
          <a:noFill/>
          <a:ln/>
        </p:spPr>
        <p:txBody>
          <a:bodyPr wrap="square" lIns="0" tIns="0" rIns="0" bIns="0" rtlCol="0" anchor="ctr"/>
          <a:lstStyle/>
          <a:p>
            <a:pPr marL="0" indent="0">
              <a:buNone/>
            </a:pPr>
            <a:r>
              <a:rPr lang="en-US" sz="1800" b="1" dirty="0">
                <a:solidFill>
                  <a:srgbClr val="2E2420"/>
                </a:solidFill>
                <a:latin typeface="Cambria" pitchFamily="34" charset="0"/>
                <a:ea typeface="Cambria" pitchFamily="34" charset="-122"/>
                <a:cs typeface="Cambria" pitchFamily="34" charset="-120"/>
              </a:rPr>
              <a:t>KOMPASS</a:t>
            </a:r>
            <a:endParaRPr lang="en-US" sz="1800" dirty="0"/>
          </a:p>
        </p:txBody>
      </p:sp>
      <p:sp>
        <p:nvSpPr>
          <p:cNvPr id="6" name="Text 4"/>
          <p:cNvSpPr txBox="1"/>
          <p:nvPr/>
        </p:nvSpPr>
        <p:spPr>
          <a:xfrm>
            <a:off x="1298448" y="832104"/>
            <a:ext cx="3200400" cy="274320"/>
          </a:xfrm>
          <a:prstGeom prst="rect">
            <a:avLst/>
          </a:prstGeom>
          <a:noFill/>
          <a:ln/>
        </p:spPr>
        <p:txBody>
          <a:bodyPr wrap="square" lIns="0" tIns="0" rIns="0" bIns="0" rtlCol="0" anchor="ctr"/>
          <a:lstStyle/>
          <a:p>
            <a:pPr marL="0" indent="0">
              <a:buNone/>
            </a:pPr>
            <a:r>
              <a:rPr lang="en-US" sz="1000" kern="0" spc="200" dirty="0">
                <a:solidFill>
                  <a:srgbClr val="8A7B73"/>
                </a:solidFill>
                <a:latin typeface="Calibri" pitchFamily="34" charset="0"/>
                <a:ea typeface="Calibri" pitchFamily="34" charset="-122"/>
                <a:cs typeface="Calibri" pitchFamily="34" charset="-120"/>
              </a:rPr>
              <a:t>A N A L Y T I C S</a:t>
            </a:r>
            <a:endParaRPr lang="en-US" sz="1000" dirty="0"/>
          </a:p>
        </p:txBody>
      </p:sp>
      <p:sp>
        <p:nvSpPr>
          <p:cNvPr id="7" name="Text 5"/>
          <p:cNvSpPr txBox="1"/>
          <p:nvPr/>
        </p:nvSpPr>
        <p:spPr>
          <a:xfrm>
            <a:off x="548640" y="1417320"/>
            <a:ext cx="7315200" cy="548640"/>
          </a:xfrm>
          <a:prstGeom prst="rect">
            <a:avLst/>
          </a:prstGeom>
          <a:noFill/>
          <a:ln/>
        </p:spPr>
        <p:txBody>
          <a:bodyPr wrap="square" lIns="0" tIns="0" rIns="0" bIns="0" rtlCol="0" anchor="ctr"/>
          <a:lstStyle/>
          <a:p>
            <a:pPr marL="0" indent="0">
              <a:buNone/>
            </a:pPr>
            <a:r>
              <a:rPr lang="en-US" sz="2600" b="1" dirty="0">
                <a:solidFill>
                  <a:srgbClr val="2E2420"/>
                </a:solidFill>
                <a:latin typeface="Cambria" pitchFamily="34" charset="0"/>
                <a:ea typeface="Cambria" pitchFamily="34" charset="-122"/>
                <a:cs typeface="Cambria" pitchFamily="34" charset="-120"/>
              </a:rPr>
              <a:t>Meet the Analyst</a:t>
            </a:r>
            <a:endParaRPr lang="en-US" sz="2600" dirty="0"/>
          </a:p>
        </p:txBody>
      </p:sp>
      <p:sp>
        <p:nvSpPr>
          <p:cNvPr id="8" name="Shape 6"/>
          <p:cNvSpPr/>
          <p:nvPr/>
        </p:nvSpPr>
        <p:spPr>
          <a:xfrm>
            <a:off x="548640" y="2240280"/>
            <a:ext cx="1371600" cy="1371600"/>
          </a:xfrm>
          <a:prstGeom prst="ellipse">
            <a:avLst/>
          </a:prstGeom>
          <a:solidFill>
            <a:srgbClr val="A7BEAE"/>
          </a:solidFill>
          <a:ln/>
        </p:spPr>
      </p:sp>
      <p:sp>
        <p:nvSpPr>
          <p:cNvPr id="9" name="Text 7"/>
          <p:cNvSpPr txBox="1"/>
          <p:nvPr/>
        </p:nvSpPr>
        <p:spPr>
          <a:xfrm>
            <a:off x="548640" y="2240280"/>
            <a:ext cx="1371600" cy="137160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DH</a:t>
            </a:r>
            <a:endParaRPr lang="en-US" sz="3200" dirty="0"/>
          </a:p>
        </p:txBody>
      </p:sp>
      <p:sp>
        <p:nvSpPr>
          <p:cNvPr id="10" name="Text 8"/>
          <p:cNvSpPr txBox="1"/>
          <p:nvPr/>
        </p:nvSpPr>
        <p:spPr>
          <a:xfrm>
            <a:off x="2194560" y="2286000"/>
            <a:ext cx="5486400" cy="457200"/>
          </a:xfrm>
          <a:prstGeom prst="rect">
            <a:avLst/>
          </a:prstGeom>
          <a:noFill/>
          <a:ln/>
        </p:spPr>
        <p:txBody>
          <a:bodyPr wrap="square" lIns="0" tIns="0" rIns="0" bIns="0" rtlCol="0" anchor="ctr"/>
          <a:lstStyle/>
          <a:p>
            <a:pPr marL="0" indent="0">
              <a:buNone/>
            </a:pPr>
            <a:r>
              <a:rPr lang="en-US" sz="2200" b="1" dirty="0">
                <a:solidFill>
                  <a:srgbClr val="2E2420"/>
                </a:solidFill>
                <a:latin typeface="Cambria" pitchFamily="34" charset="0"/>
                <a:ea typeface="Cambria" pitchFamily="34" charset="-122"/>
                <a:cs typeface="Cambria" pitchFamily="34" charset="-120"/>
              </a:rPr>
              <a:t>Daniel H. Chercos</a:t>
            </a:r>
            <a:endParaRPr lang="en-US" sz="2200" dirty="0"/>
          </a:p>
        </p:txBody>
      </p:sp>
      <p:sp>
        <p:nvSpPr>
          <p:cNvPr id="11" name="Text 9"/>
          <p:cNvSpPr txBox="1"/>
          <p:nvPr/>
        </p:nvSpPr>
        <p:spPr>
          <a:xfrm>
            <a:off x="2194560" y="2743200"/>
            <a:ext cx="7772400" cy="365760"/>
          </a:xfrm>
          <a:prstGeom prst="rect">
            <a:avLst/>
          </a:prstGeom>
          <a:noFill/>
          <a:ln/>
        </p:spPr>
        <p:txBody>
          <a:bodyPr wrap="square" lIns="0" tIns="0" rIns="0" bIns="0" rtlCol="0" anchor="ctr"/>
          <a:lstStyle/>
          <a:p>
            <a:pPr marL="0" indent="0">
              <a:buNone/>
            </a:pPr>
            <a:r>
              <a:rPr lang="en-US" sz="1300" i="1" dirty="0">
                <a:solidFill>
                  <a:srgbClr val="B85042"/>
                </a:solidFill>
                <a:latin typeface="Calibri" pitchFamily="34" charset="0"/>
                <a:ea typeface="Calibri" pitchFamily="34" charset="-122"/>
                <a:cs typeface="Calibri" pitchFamily="34" charset="-120"/>
              </a:rPr>
              <a:t>Senior Real Estate Data Scientist  ·  Kompass Analytics  ·  Hamburg, Germany</a:t>
            </a:r>
            <a:endParaRPr lang="en-US" sz="1300" dirty="0"/>
          </a:p>
        </p:txBody>
      </p:sp>
      <p:sp>
        <p:nvSpPr>
          <p:cNvPr id="12" name="Text 10"/>
          <p:cNvSpPr txBox="1"/>
          <p:nvPr/>
        </p:nvSpPr>
        <p:spPr>
          <a:xfrm>
            <a:off x="2194560" y="3200400"/>
            <a:ext cx="8138160" cy="1188720"/>
          </a:xfrm>
          <a:prstGeom prst="rect">
            <a:avLst/>
          </a:prstGeom>
          <a:noFill/>
          <a:ln/>
        </p:spPr>
        <p:txBody>
          <a:bodyPr wrap="square" lIns="0" tIns="0" rIns="0" bIns="0" rtlCol="0" anchor="ctr"/>
          <a:lstStyle/>
          <a:p>
            <a:r>
              <a:rPr lang="en-US" sz="1250" dirty="0">
                <a:solidFill>
                  <a:srgbClr val="2E2420"/>
                </a:solidFill>
                <a:latin typeface="Calibri" pitchFamily="34" charset="0"/>
                <a:ea typeface="Calibri" pitchFamily="34" charset="-122"/>
                <a:cs typeface="Calibri" pitchFamily="34" charset="-120"/>
              </a:rPr>
              <a:t>Daniel advises buyers and sellers on U.S. housing markets from his data practice in Hamburg, pairing hypothesis-driven analysis with plain-English recommendations, trained in Urban Data Science (</a:t>
            </a:r>
            <a:r>
              <a:rPr lang="en-US" sz="1250" dirty="0" err="1">
                <a:solidFill>
                  <a:srgbClr val="2E2420"/>
                </a:solidFill>
                <a:latin typeface="Calibri" pitchFamily="34" charset="0"/>
                <a:ea typeface="Calibri" pitchFamily="34" charset="-122"/>
                <a:cs typeface="Calibri" pitchFamily="34" charset="-120"/>
              </a:rPr>
              <a:t>Neuefische</a:t>
            </a:r>
            <a:r>
              <a:rPr lang="en-US" sz="1250" dirty="0">
                <a:solidFill>
                  <a:srgbClr val="2E2420"/>
                </a:solidFill>
                <a:latin typeface="Calibri" pitchFamily="34" charset="0"/>
                <a:ea typeface="Calibri" pitchFamily="34" charset="-122"/>
                <a:cs typeface="Calibri" pitchFamily="34" charset="-120"/>
              </a:rPr>
              <a:t>); 8 years turning public housing records into buyer- and seller-side strategy.                </a:t>
            </a:r>
            <a:endParaRPr lang="en-US" sz="1250" dirty="0"/>
          </a:p>
        </p:txBody>
      </p:sp>
      <p:sp>
        <p:nvSpPr>
          <p:cNvPr id="13" name="Shape 11"/>
          <p:cNvSpPr/>
          <p:nvPr/>
        </p:nvSpPr>
        <p:spPr>
          <a:xfrm>
            <a:off x="548640" y="4709160"/>
            <a:ext cx="1947672" cy="384048"/>
          </a:xfrm>
          <a:prstGeom prst="roundRect">
            <a:avLst>
              <a:gd name="adj" fmla="val 50000"/>
            </a:avLst>
          </a:prstGeom>
          <a:solidFill>
            <a:srgbClr val="E7E8D1"/>
          </a:solidFill>
          <a:ln/>
        </p:spPr>
      </p:sp>
      <p:sp>
        <p:nvSpPr>
          <p:cNvPr id="14" name="Text 12"/>
          <p:cNvSpPr txBox="1"/>
          <p:nvPr/>
        </p:nvSpPr>
        <p:spPr>
          <a:xfrm>
            <a:off x="548640" y="4709160"/>
            <a:ext cx="1947672" cy="384048"/>
          </a:xfrm>
          <a:prstGeom prst="rect">
            <a:avLst/>
          </a:prstGeom>
          <a:noFill/>
          <a:ln/>
        </p:spPr>
        <p:txBody>
          <a:bodyPr wrap="square" lIns="0" tIns="0" rIns="0" bIns="0" rtlCol="0" anchor="ctr"/>
          <a:lstStyle/>
          <a:p>
            <a:pPr marL="0" indent="0" algn="ctr">
              <a:buNone/>
            </a:pPr>
            <a:r>
              <a:rPr lang="en-US" sz="1100" dirty="0">
                <a:solidFill>
                  <a:srgbClr val="2E2420"/>
                </a:solidFill>
                <a:latin typeface="Calibri" pitchFamily="34" charset="0"/>
                <a:ea typeface="Calibri" pitchFamily="34" charset="-122"/>
                <a:cs typeface="Calibri" pitchFamily="34" charset="-120"/>
              </a:rPr>
              <a:t>Hypothesis-driven EDA</a:t>
            </a:r>
            <a:endParaRPr lang="en-US" sz="1100" dirty="0"/>
          </a:p>
        </p:txBody>
      </p:sp>
      <p:sp>
        <p:nvSpPr>
          <p:cNvPr id="15" name="Shape 13"/>
          <p:cNvSpPr/>
          <p:nvPr/>
        </p:nvSpPr>
        <p:spPr>
          <a:xfrm>
            <a:off x="2679192" y="4709160"/>
            <a:ext cx="2112264" cy="384048"/>
          </a:xfrm>
          <a:prstGeom prst="roundRect">
            <a:avLst>
              <a:gd name="adj" fmla="val 50000"/>
            </a:avLst>
          </a:prstGeom>
          <a:solidFill>
            <a:srgbClr val="E7E8D1"/>
          </a:solidFill>
          <a:ln/>
        </p:spPr>
      </p:sp>
      <p:sp>
        <p:nvSpPr>
          <p:cNvPr id="16" name="Text 14"/>
          <p:cNvSpPr txBox="1"/>
          <p:nvPr/>
        </p:nvSpPr>
        <p:spPr>
          <a:xfrm>
            <a:off x="2679192" y="4709160"/>
            <a:ext cx="2112264" cy="384048"/>
          </a:xfrm>
          <a:prstGeom prst="rect">
            <a:avLst/>
          </a:prstGeom>
          <a:noFill/>
          <a:ln/>
        </p:spPr>
        <p:txBody>
          <a:bodyPr wrap="square" lIns="0" tIns="0" rIns="0" bIns="0" rtlCol="0" anchor="ctr"/>
          <a:lstStyle/>
          <a:p>
            <a:pPr marL="0" indent="0" algn="ctr">
              <a:buNone/>
            </a:pPr>
            <a:r>
              <a:rPr lang="en-US" sz="1100" dirty="0">
                <a:solidFill>
                  <a:srgbClr val="2E2420"/>
                </a:solidFill>
                <a:latin typeface="Calibri" pitchFamily="34" charset="0"/>
                <a:ea typeface="Calibri" pitchFamily="34" charset="-122"/>
                <a:cs typeface="Calibri" pitchFamily="34" charset="-120"/>
              </a:rPr>
              <a:t>Housing data</a:t>
            </a:r>
            <a:endParaRPr lang="en-US" sz="1100" dirty="0"/>
          </a:p>
        </p:txBody>
      </p:sp>
      <p:sp>
        <p:nvSpPr>
          <p:cNvPr id="17" name="Shape 15"/>
          <p:cNvSpPr/>
          <p:nvPr/>
        </p:nvSpPr>
        <p:spPr>
          <a:xfrm>
            <a:off x="4974336" y="4709160"/>
            <a:ext cx="1371600" cy="384048"/>
          </a:xfrm>
          <a:prstGeom prst="roundRect">
            <a:avLst>
              <a:gd name="adj" fmla="val 50000"/>
            </a:avLst>
          </a:prstGeom>
          <a:solidFill>
            <a:srgbClr val="E7E8D1"/>
          </a:solidFill>
          <a:ln/>
        </p:spPr>
      </p:sp>
      <p:sp>
        <p:nvSpPr>
          <p:cNvPr id="18" name="Text 16"/>
          <p:cNvSpPr txBox="1"/>
          <p:nvPr/>
        </p:nvSpPr>
        <p:spPr>
          <a:xfrm>
            <a:off x="4974336" y="4709160"/>
            <a:ext cx="1371600" cy="384048"/>
          </a:xfrm>
          <a:prstGeom prst="rect">
            <a:avLst/>
          </a:prstGeom>
          <a:noFill/>
          <a:ln/>
        </p:spPr>
        <p:txBody>
          <a:bodyPr wrap="square" lIns="0" tIns="0" rIns="0" bIns="0" rtlCol="0" anchor="ctr"/>
          <a:lstStyle/>
          <a:p>
            <a:pPr marL="0" indent="0" algn="ctr">
              <a:buNone/>
            </a:pPr>
            <a:r>
              <a:rPr lang="en-US" sz="1100" dirty="0">
                <a:solidFill>
                  <a:srgbClr val="2E2420"/>
                </a:solidFill>
                <a:latin typeface="Calibri" pitchFamily="34" charset="0"/>
                <a:ea typeface="Calibri" pitchFamily="34" charset="-122"/>
                <a:cs typeface="Calibri" pitchFamily="34" charset="-120"/>
              </a:rPr>
              <a:t>Buyer strategy</a:t>
            </a:r>
            <a:endParaRPr lang="en-US" sz="1100" dirty="0"/>
          </a:p>
        </p:txBody>
      </p:sp>
      <p:sp>
        <p:nvSpPr>
          <p:cNvPr id="19" name="Shape 17"/>
          <p:cNvSpPr/>
          <p:nvPr/>
        </p:nvSpPr>
        <p:spPr>
          <a:xfrm>
            <a:off x="6528816" y="4709160"/>
            <a:ext cx="2112264" cy="384048"/>
          </a:xfrm>
          <a:prstGeom prst="roundRect">
            <a:avLst>
              <a:gd name="adj" fmla="val 50000"/>
            </a:avLst>
          </a:prstGeom>
          <a:solidFill>
            <a:srgbClr val="E7E8D1"/>
          </a:solidFill>
          <a:ln/>
        </p:spPr>
      </p:sp>
      <p:sp>
        <p:nvSpPr>
          <p:cNvPr id="20" name="Text 18"/>
          <p:cNvSpPr txBox="1"/>
          <p:nvPr/>
        </p:nvSpPr>
        <p:spPr>
          <a:xfrm>
            <a:off x="6528816" y="4709160"/>
            <a:ext cx="2112264" cy="384048"/>
          </a:xfrm>
          <a:prstGeom prst="rect">
            <a:avLst/>
          </a:prstGeom>
          <a:noFill/>
          <a:ln/>
        </p:spPr>
        <p:txBody>
          <a:bodyPr wrap="square" lIns="0" tIns="0" rIns="0" bIns="0" rtlCol="0" anchor="ctr"/>
          <a:lstStyle/>
          <a:p>
            <a:pPr marL="0" indent="0" algn="ctr">
              <a:buNone/>
            </a:pPr>
            <a:r>
              <a:rPr lang="en-US" sz="1100" dirty="0">
                <a:solidFill>
                  <a:srgbClr val="2E2420"/>
                </a:solidFill>
                <a:latin typeface="Calibri" pitchFamily="34" charset="0"/>
                <a:ea typeface="Calibri" pitchFamily="34" charset="-122"/>
                <a:cs typeface="Calibri" pitchFamily="34" charset="-120"/>
              </a:rPr>
              <a:t>Cross-border consulting</a:t>
            </a:r>
            <a:endParaRPr lang="en-US" sz="1100" dirty="0"/>
          </a:p>
        </p:txBody>
      </p:sp>
      <p:sp>
        <p:nvSpPr>
          <p:cNvPr id="21" name="Shape 19"/>
          <p:cNvSpPr/>
          <p:nvPr/>
        </p:nvSpPr>
        <p:spPr>
          <a:xfrm>
            <a:off x="548640" y="5989320"/>
            <a:ext cx="11064240" cy="548640"/>
          </a:xfrm>
          <a:prstGeom prst="rect">
            <a:avLst/>
          </a:prstGeom>
          <a:solidFill>
            <a:srgbClr val="E7E8D1"/>
          </a:solidFill>
          <a:ln/>
        </p:spPr>
      </p:sp>
      <p:sp>
        <p:nvSpPr>
          <p:cNvPr id="22" name="Text 20"/>
          <p:cNvSpPr txBox="1"/>
          <p:nvPr/>
        </p:nvSpPr>
        <p:spPr>
          <a:xfrm>
            <a:off x="822960" y="5989320"/>
            <a:ext cx="10515600" cy="548640"/>
          </a:xfrm>
          <a:prstGeom prst="rect">
            <a:avLst/>
          </a:prstGeom>
          <a:noFill/>
          <a:ln/>
        </p:spPr>
        <p:txBody>
          <a:bodyPr wrap="square" lIns="0" tIns="0" rIns="0" bIns="0" rtlCol="0" anchor="ctr"/>
          <a:lstStyle/>
          <a:p>
            <a:pPr marL="0" indent="0">
              <a:buNone/>
            </a:pPr>
            <a:r>
              <a:rPr lang="en-US" sz="1200" i="1" dirty="0">
                <a:solidFill>
                  <a:srgbClr val="2E2420"/>
                </a:solidFill>
                <a:latin typeface="Calibri" pitchFamily="34" charset="0"/>
                <a:ea typeface="Calibri" pitchFamily="34" charset="-122"/>
                <a:cs typeface="Calibri" pitchFamily="34" charset="-120"/>
              </a:rPr>
              <a:t>Prepared by Kompass Analytics, Hamburg — For buyer client</a:t>
            </a:r>
            <a:endParaRPr lang="en-US" sz="1200" dirty="0"/>
          </a:p>
        </p:txBody>
      </p:sp>
      <p:pic>
        <p:nvPicPr>
          <p:cNvPr id="24" name="Picture 23">
            <a:extLst>
              <a:ext uri="{FF2B5EF4-FFF2-40B4-BE49-F238E27FC236}">
                <a16:creationId xmlns:a16="http://schemas.microsoft.com/office/drawing/2014/main" id="{5BAC043A-8AF0-0B53-A2DD-10F35607D2B4}"/>
              </a:ext>
            </a:extLst>
          </p:cNvPr>
          <p:cNvPicPr>
            <a:picLocks noChangeAspect="1"/>
          </p:cNvPicPr>
          <p:nvPr/>
        </p:nvPicPr>
        <p:blipFill>
          <a:blip r:embed="rId3"/>
          <a:stretch>
            <a:fillRect/>
          </a:stretch>
        </p:blipFill>
        <p:spPr>
          <a:xfrm>
            <a:off x="472440" y="2183892"/>
            <a:ext cx="1447800" cy="1447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lIns="0" tIns="0" rIns="0" bIns="0" rtlCol="0" anchor="ctr"/>
          <a:lstStyle/>
          <a:p>
            <a:pPr marL="0" indent="0">
              <a:buNone/>
            </a:pPr>
            <a:r>
              <a:rPr lang="en-US" sz="3000" b="1" dirty="0">
                <a:solidFill>
                  <a:srgbClr val="2E2420"/>
                </a:solidFill>
                <a:latin typeface="Cambria" pitchFamily="34" charset="0"/>
                <a:ea typeface="Cambria" pitchFamily="34" charset="-122"/>
                <a:cs typeface="Cambria" pitchFamily="34" charset="-120"/>
              </a:rPr>
              <a:t>Meet the Buyer</a:t>
            </a:r>
            <a:endParaRPr lang="en-US" sz="3000" dirty="0"/>
          </a:p>
        </p:txBody>
      </p:sp>
      <p:sp>
        <p:nvSpPr>
          <p:cNvPr id="3" name="Text 1"/>
          <p:cNvSpPr txBox="1"/>
          <p:nvPr/>
        </p:nvSpPr>
        <p:spPr>
          <a:xfrm>
            <a:off x="548640" y="960120"/>
            <a:ext cx="7315200" cy="457200"/>
          </a:xfrm>
          <a:prstGeom prst="rect">
            <a:avLst/>
          </a:prstGeom>
          <a:noFill/>
          <a:ln/>
        </p:spPr>
        <p:txBody>
          <a:bodyPr wrap="square" lIns="0" tIns="0" rIns="0" bIns="0" rtlCol="0" anchor="ctr"/>
          <a:lstStyle/>
          <a:p>
            <a:pPr marL="0" indent="0">
              <a:buNone/>
            </a:pPr>
            <a:r>
              <a:rPr lang="en-US" sz="1300" i="1" dirty="0">
                <a:solidFill>
                  <a:srgbClr val="8A7B73"/>
                </a:solidFill>
                <a:latin typeface="Calibri" pitchFamily="34" charset="0"/>
                <a:ea typeface="Calibri" pitchFamily="34" charset="-122"/>
                <a:cs typeface="Calibri" pitchFamily="34" charset="-120"/>
              </a:rPr>
              <a:t>Every hypothesis on this deck is built to answer questions specific to Thomas's situation.</a:t>
            </a:r>
            <a:endParaRPr lang="en-US" sz="1300" dirty="0"/>
          </a:p>
        </p:txBody>
      </p:sp>
      <p:sp>
        <p:nvSpPr>
          <p:cNvPr id="4" name="Shape 2"/>
          <p:cNvSpPr/>
          <p:nvPr/>
        </p:nvSpPr>
        <p:spPr>
          <a:xfrm>
            <a:off x="548640" y="1965960"/>
            <a:ext cx="457200" cy="457200"/>
          </a:xfrm>
          <a:prstGeom prst="ellipse">
            <a:avLst/>
          </a:prstGeom>
          <a:solidFill>
            <a:srgbClr val="B85042"/>
          </a:solidFill>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H</a:t>
            </a:r>
            <a:endParaRPr lang="en-US" sz="1600" dirty="0"/>
          </a:p>
        </p:txBody>
      </p:sp>
      <p:sp>
        <p:nvSpPr>
          <p:cNvPr id="6" name="Text 4"/>
          <p:cNvSpPr txBox="1"/>
          <p:nvPr/>
        </p:nvSpPr>
        <p:spPr>
          <a:xfrm>
            <a:off x="1234440" y="1911096"/>
            <a:ext cx="2377440" cy="54864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Household</a:t>
            </a:r>
            <a:endParaRPr lang="en-US" sz="1500" dirty="0"/>
          </a:p>
        </p:txBody>
      </p:sp>
      <p:sp>
        <p:nvSpPr>
          <p:cNvPr id="7" name="Text 5"/>
          <p:cNvSpPr txBox="1"/>
          <p:nvPr/>
        </p:nvSpPr>
        <p:spPr>
          <a:xfrm>
            <a:off x="3703320" y="1911096"/>
            <a:ext cx="7772400" cy="548640"/>
          </a:xfrm>
          <a:prstGeom prst="rect">
            <a:avLst/>
          </a:prstGeom>
          <a:noFill/>
          <a:ln/>
        </p:spPr>
        <p:txBody>
          <a:bodyPr wrap="square" lIns="0" tIns="0" rIns="0" bIns="0" rtlCol="0" anchor="ctr"/>
          <a:lstStyle/>
          <a:p>
            <a:pPr marL="0" indent="0">
              <a:buNone/>
            </a:pPr>
            <a:r>
              <a:rPr lang="en-US" sz="1400" dirty="0">
                <a:solidFill>
                  <a:srgbClr val="2E2420"/>
                </a:solidFill>
                <a:latin typeface="Calibri" pitchFamily="34" charset="0"/>
                <a:ea typeface="Calibri" pitchFamily="34" charset="-122"/>
                <a:cs typeface="Calibri" pitchFamily="34" charset="-120"/>
              </a:rPr>
              <a:t>5 kids — needs efficient bedroom count without paying for excess space</a:t>
            </a:r>
            <a:endParaRPr lang="en-US" sz="1400" dirty="0"/>
          </a:p>
        </p:txBody>
      </p:sp>
      <p:sp>
        <p:nvSpPr>
          <p:cNvPr id="8" name="Shape 6"/>
          <p:cNvSpPr/>
          <p:nvPr/>
        </p:nvSpPr>
        <p:spPr>
          <a:xfrm>
            <a:off x="548640" y="2926080"/>
            <a:ext cx="457200" cy="457200"/>
          </a:xfrm>
          <a:prstGeom prst="ellipse">
            <a:avLst/>
          </a:prstGeom>
          <a:solidFill>
            <a:srgbClr val="B85042"/>
          </a:solidFill>
          <a:ln/>
        </p:spPr>
      </p:sp>
      <p:sp>
        <p:nvSpPr>
          <p:cNvPr id="9" name="Text 7"/>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0" name="Text 8"/>
          <p:cNvSpPr txBox="1"/>
          <p:nvPr/>
        </p:nvSpPr>
        <p:spPr>
          <a:xfrm>
            <a:off x="1234440" y="2871216"/>
            <a:ext cx="2377440" cy="54864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Budget</a:t>
            </a:r>
            <a:endParaRPr lang="en-US" sz="1500" dirty="0"/>
          </a:p>
        </p:txBody>
      </p:sp>
      <p:sp>
        <p:nvSpPr>
          <p:cNvPr id="11" name="Text 9"/>
          <p:cNvSpPr txBox="1"/>
          <p:nvPr/>
        </p:nvSpPr>
        <p:spPr>
          <a:xfrm>
            <a:off x="3703320" y="2871216"/>
            <a:ext cx="7772400" cy="548640"/>
          </a:xfrm>
          <a:prstGeom prst="rect">
            <a:avLst/>
          </a:prstGeom>
          <a:noFill/>
          <a:ln/>
        </p:spPr>
        <p:txBody>
          <a:bodyPr wrap="square" lIns="0" tIns="0" rIns="0" bIns="0" rtlCol="0" anchor="ctr"/>
          <a:lstStyle/>
          <a:p>
            <a:pPr marL="0" indent="0">
              <a:buNone/>
            </a:pPr>
            <a:r>
              <a:rPr lang="en-US" sz="1400" dirty="0">
                <a:solidFill>
                  <a:srgbClr val="2E2420"/>
                </a:solidFill>
                <a:latin typeface="Calibri" pitchFamily="34" charset="0"/>
                <a:ea typeface="Calibri" pitchFamily="34" charset="-122"/>
                <a:cs typeface="Calibri" pitchFamily="34" charset="-120"/>
              </a:rPr>
              <a:t>Limited — every dollar of price premium has to be justified</a:t>
            </a:r>
            <a:endParaRPr lang="en-US" sz="1400" dirty="0"/>
          </a:p>
        </p:txBody>
      </p:sp>
      <p:sp>
        <p:nvSpPr>
          <p:cNvPr id="12" name="Shape 10"/>
          <p:cNvSpPr/>
          <p:nvPr/>
        </p:nvSpPr>
        <p:spPr>
          <a:xfrm>
            <a:off x="548640" y="3886200"/>
            <a:ext cx="457200" cy="457200"/>
          </a:xfrm>
          <a:prstGeom prst="ellipse">
            <a:avLst/>
          </a:prstGeom>
          <a:solidFill>
            <a:srgbClr val="B85042"/>
          </a:solidFill>
          <a:ln/>
        </p:spPr>
      </p:sp>
      <p:sp>
        <p:nvSpPr>
          <p:cNvPr id="13" name="Text 11"/>
          <p:cNvSpPr txBox="1"/>
          <p:nvPr/>
        </p:nvSpPr>
        <p:spPr>
          <a:xfrm>
            <a:off x="548640" y="3886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a:t>
            </a:r>
            <a:endParaRPr lang="en-US" sz="1600" dirty="0"/>
          </a:p>
        </p:txBody>
      </p:sp>
      <p:sp>
        <p:nvSpPr>
          <p:cNvPr id="14" name="Text 12"/>
          <p:cNvSpPr txBox="1"/>
          <p:nvPr/>
        </p:nvSpPr>
        <p:spPr>
          <a:xfrm>
            <a:off x="1234440" y="3831336"/>
            <a:ext cx="2377440" cy="54864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Priority</a:t>
            </a:r>
            <a:endParaRPr lang="en-US" sz="1500" dirty="0"/>
          </a:p>
        </p:txBody>
      </p:sp>
      <p:sp>
        <p:nvSpPr>
          <p:cNvPr id="15" name="Text 13"/>
          <p:cNvSpPr txBox="1"/>
          <p:nvPr/>
        </p:nvSpPr>
        <p:spPr>
          <a:xfrm>
            <a:off x="3703320" y="3831336"/>
            <a:ext cx="7772400" cy="548640"/>
          </a:xfrm>
          <a:prstGeom prst="rect">
            <a:avLst/>
          </a:prstGeom>
          <a:noFill/>
          <a:ln/>
        </p:spPr>
        <p:txBody>
          <a:bodyPr wrap="square" lIns="0" tIns="0" rIns="0" bIns="0" rtlCol="0" anchor="ctr"/>
          <a:lstStyle/>
          <a:p>
            <a:pPr marL="0" indent="0">
              <a:buNone/>
            </a:pPr>
            <a:r>
              <a:rPr lang="en-US" sz="1400" dirty="0">
                <a:solidFill>
                  <a:srgbClr val="2E2420"/>
                </a:solidFill>
                <a:latin typeface="Calibri" pitchFamily="34" charset="0"/>
                <a:ea typeface="Calibri" pitchFamily="34" charset="-122"/>
                <a:cs typeface="Calibri" pitchFamily="34" charset="-120"/>
              </a:rPr>
              <a:t>A nice, socially active neighborhood matters as much as the house itself</a:t>
            </a:r>
            <a:endParaRPr lang="en-US" sz="1400" dirty="0"/>
          </a:p>
        </p:txBody>
      </p:sp>
      <p:sp>
        <p:nvSpPr>
          <p:cNvPr id="16" name="Shape 14"/>
          <p:cNvSpPr/>
          <p:nvPr/>
        </p:nvSpPr>
        <p:spPr>
          <a:xfrm>
            <a:off x="548640" y="4846320"/>
            <a:ext cx="457200" cy="457200"/>
          </a:xfrm>
          <a:prstGeom prst="ellipse">
            <a:avLst/>
          </a:prstGeom>
          <a:solidFill>
            <a:srgbClr val="B85042"/>
          </a:solidFill>
          <a:ln/>
        </p:spPr>
      </p:sp>
      <p:sp>
        <p:nvSpPr>
          <p:cNvPr id="17" name="Text 15"/>
          <p:cNvSpPr txBox="1"/>
          <p:nvPr/>
        </p:nvSpPr>
        <p:spPr>
          <a:xfrm>
            <a:off x="548640" y="48463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O</a:t>
            </a:r>
            <a:endParaRPr lang="en-US" sz="1600" dirty="0"/>
          </a:p>
        </p:txBody>
      </p:sp>
      <p:sp>
        <p:nvSpPr>
          <p:cNvPr id="18" name="Text 16"/>
          <p:cNvSpPr txBox="1"/>
          <p:nvPr/>
        </p:nvSpPr>
        <p:spPr>
          <a:xfrm>
            <a:off x="1234440" y="4791456"/>
            <a:ext cx="2377440" cy="54864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Open questions</a:t>
            </a:r>
            <a:endParaRPr lang="en-US" sz="1500" dirty="0"/>
          </a:p>
        </p:txBody>
      </p:sp>
      <p:sp>
        <p:nvSpPr>
          <p:cNvPr id="19" name="Text 17"/>
          <p:cNvSpPr txBox="1"/>
          <p:nvPr/>
        </p:nvSpPr>
        <p:spPr>
          <a:xfrm>
            <a:off x="3703320" y="4791456"/>
            <a:ext cx="7772400" cy="548640"/>
          </a:xfrm>
          <a:prstGeom prst="rect">
            <a:avLst/>
          </a:prstGeom>
          <a:noFill/>
          <a:ln/>
        </p:spPr>
        <p:txBody>
          <a:bodyPr wrap="square" lIns="0" tIns="0" rIns="0" bIns="0" rtlCol="0" anchor="ctr"/>
          <a:lstStyle/>
          <a:p>
            <a:pPr marL="0" indent="0">
              <a:buNone/>
            </a:pPr>
            <a:r>
              <a:rPr lang="en-US" sz="1400" dirty="0">
                <a:solidFill>
                  <a:srgbClr val="2E2420"/>
                </a:solidFill>
                <a:latin typeface="Calibri" pitchFamily="34" charset="0"/>
                <a:ea typeface="Calibri" pitchFamily="34" charset="-122"/>
                <a:cs typeface="Calibri" pitchFamily="34" charset="-120"/>
              </a:rPr>
              <a:t>Best timing to buy, and which location fits the budget</a:t>
            </a:r>
            <a:endParaRPr lang="en-US" sz="1400" dirty="0"/>
          </a:p>
        </p:txBody>
      </p:sp>
      <p:sp>
        <p:nvSpPr>
          <p:cNvPr id="20" name="Page Number 3"/>
          <p:cNvSpPr txBox="1"/>
          <p:nvPr/>
        </p:nvSpPr>
        <p:spPr>
          <a:xfrm>
            <a:off x="9966960" y="6263640"/>
            <a:ext cx="1402080" cy="320040"/>
          </a:xfrm>
          <a:prstGeom prst="rect">
            <a:avLst/>
          </a:prstGeom>
          <a:noFill/>
          <a:ln/>
        </p:spPr>
        <p:txBody>
          <a:bodyPr wrap="square" lIns="0" tIns="0" rIns="0" bIns="0" rtlCol="0" anchor="ctr"/>
          <a:lstStyle/>
          <a:p>
            <a:pPr lvl="0" algn="r"/>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3</a:t>
            </a:r>
          </a:p>
        </p:txBody>
      </p:sp>
      <p:sp>
        <p:nvSpPr>
          <p:cNvPr id="21" name="Footer 3"/>
          <p:cNvSpPr txBox="1"/>
          <p:nvPr/>
        </p:nvSpPr>
        <p:spPr>
          <a:xfrm>
            <a:off x="822960" y="6263640"/>
            <a:ext cx="9144000" cy="320040"/>
          </a:xfrm>
          <a:prstGeom prst="rect">
            <a:avLst/>
          </a:prstGeom>
          <a:noFill/>
          <a:ln/>
        </p:spPr>
        <p:txBody>
          <a:bodyPr wrap="square" lIns="0" tIns="0" rIns="0" bIns="0" rtlCol="0" anchor="ctr"/>
          <a:lstStyle/>
          <a:p>
            <a:pPr lvl="0" algn="l"/>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Daniel H. Chercos ·  Kompass Analytics  ·  Hamburg, Germany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lIns="0" tIns="0" rIns="0" bIns="0" rtlCol="0" anchor="ctr"/>
          <a:lstStyle/>
          <a:p>
            <a:pPr marL="0" indent="0">
              <a:buNone/>
            </a:pPr>
            <a:r>
              <a:rPr lang="en-US" sz="3000" b="1" dirty="0">
                <a:solidFill>
                  <a:srgbClr val="2E2420"/>
                </a:solidFill>
                <a:latin typeface="Cambria" pitchFamily="34" charset="0"/>
                <a:ea typeface="Cambria" pitchFamily="34" charset="-122"/>
                <a:cs typeface="Cambria" pitchFamily="34" charset="-120"/>
              </a:rPr>
              <a:t>How We Tested These Hypotheses</a:t>
            </a:r>
            <a:endParaRPr lang="en-US" sz="3000" dirty="0"/>
          </a:p>
        </p:txBody>
      </p:sp>
      <p:sp>
        <p:nvSpPr>
          <p:cNvPr id="3" name="Text 1"/>
          <p:cNvSpPr txBox="1"/>
          <p:nvPr/>
        </p:nvSpPr>
        <p:spPr>
          <a:xfrm>
            <a:off x="548640" y="960120"/>
            <a:ext cx="9601200" cy="457200"/>
          </a:xfrm>
          <a:prstGeom prst="rect">
            <a:avLst/>
          </a:prstGeom>
          <a:noFill/>
          <a:ln/>
        </p:spPr>
        <p:txBody>
          <a:bodyPr wrap="square" lIns="0" tIns="0" rIns="0" bIns="0" rtlCol="0" anchor="ctr"/>
          <a:lstStyle/>
          <a:p>
            <a:pPr marL="0" indent="0">
              <a:buNone/>
            </a:pPr>
            <a:r>
              <a:rPr lang="en-US" sz="1300" i="1" dirty="0">
                <a:solidFill>
                  <a:srgbClr val="8A7B73"/>
                </a:solidFill>
                <a:latin typeface="Calibri" pitchFamily="34" charset="0"/>
                <a:ea typeface="Calibri" pitchFamily="34" charset="-122"/>
                <a:cs typeface="Calibri" pitchFamily="34" charset="-120"/>
              </a:rPr>
              <a:t>A quick note on the data and approach behind every chart in this deck.</a:t>
            </a:r>
            <a:endParaRPr lang="en-US" sz="1300" dirty="0"/>
          </a:p>
        </p:txBody>
      </p:sp>
      <p:sp>
        <p:nvSpPr>
          <p:cNvPr id="4" name="Shape 2"/>
          <p:cNvSpPr/>
          <p:nvPr/>
        </p:nvSpPr>
        <p:spPr>
          <a:xfrm>
            <a:off x="548640" y="1691640"/>
            <a:ext cx="5349240" cy="2057400"/>
          </a:xfrm>
          <a:prstGeom prst="rect">
            <a:avLst/>
          </a:prstGeom>
          <a:solidFill>
            <a:srgbClr val="E7E8D1"/>
          </a:solidFill>
          <a:ln/>
        </p:spPr>
      </p:sp>
      <p:sp>
        <p:nvSpPr>
          <p:cNvPr id="5" name="Shape 3"/>
          <p:cNvSpPr/>
          <p:nvPr/>
        </p:nvSpPr>
        <p:spPr>
          <a:xfrm>
            <a:off x="822960" y="1965960"/>
            <a:ext cx="457200" cy="457200"/>
          </a:xfrm>
          <a:prstGeom prst="ellipse">
            <a:avLst/>
          </a:prstGeom>
          <a:solidFill>
            <a:srgbClr val="B85042"/>
          </a:solidFill>
          <a:ln/>
        </p:spPr>
      </p:sp>
      <p:sp>
        <p:nvSpPr>
          <p:cNvPr id="6" name="Text 4"/>
          <p:cNvSpPr txBox="1"/>
          <p:nvPr/>
        </p:nvSpPr>
        <p:spPr>
          <a:xfrm>
            <a:off x="822960"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7" name="Text 5"/>
          <p:cNvSpPr txBox="1"/>
          <p:nvPr/>
        </p:nvSpPr>
        <p:spPr>
          <a:xfrm>
            <a:off x="1463040" y="1965960"/>
            <a:ext cx="4160520" cy="45720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Data &amp; Scope</a:t>
            </a:r>
            <a:endParaRPr lang="en-US" sz="1500" dirty="0"/>
          </a:p>
        </p:txBody>
      </p:sp>
      <p:sp>
        <p:nvSpPr>
          <p:cNvPr id="8" name="Text 6"/>
          <p:cNvSpPr txBox="1"/>
          <p:nvPr/>
        </p:nvSpPr>
        <p:spPr>
          <a:xfrm>
            <a:off x="822960" y="2560320"/>
            <a:ext cx="4800600" cy="960120"/>
          </a:xfrm>
          <a:prstGeom prst="rect">
            <a:avLst/>
          </a:prstGeom>
          <a:noFill/>
          <a:ln/>
        </p:spPr>
        <p:txBody>
          <a:bodyPr wrap="square" lIns="0" tIns="0" rIns="0" bIns="0" rtlCol="0" anchor="t"/>
          <a:lstStyle/>
          <a:p>
            <a:pPr marL="0" indent="0">
              <a:buNone/>
            </a:pPr>
            <a:r>
              <a:rPr lang="en-US" sz="1200" dirty="0">
                <a:solidFill>
                  <a:srgbClr val="2E2420"/>
                </a:solidFill>
                <a:latin typeface="Calibri" pitchFamily="34" charset="0"/>
                <a:ea typeface="Calibri" pitchFamily="34" charset="-122"/>
                <a:cs typeface="Calibri" pitchFamily="34" charset="-120"/>
              </a:rPr>
              <a:t>King County home sales — ~21,600 records with price, size, condition, and location fields for homes sold 2014–2015.</a:t>
            </a:r>
            <a:endParaRPr lang="en-US" sz="1200" dirty="0"/>
          </a:p>
        </p:txBody>
      </p:sp>
      <p:sp>
        <p:nvSpPr>
          <p:cNvPr id="9" name="Shape 7"/>
          <p:cNvSpPr/>
          <p:nvPr/>
        </p:nvSpPr>
        <p:spPr>
          <a:xfrm>
            <a:off x="6263640" y="1691640"/>
            <a:ext cx="5349240" cy="2057400"/>
          </a:xfrm>
          <a:prstGeom prst="rect">
            <a:avLst/>
          </a:prstGeom>
          <a:solidFill>
            <a:srgbClr val="E7E8D1"/>
          </a:solidFill>
          <a:ln/>
        </p:spPr>
      </p:sp>
      <p:sp>
        <p:nvSpPr>
          <p:cNvPr id="10" name="Shape 8"/>
          <p:cNvSpPr/>
          <p:nvPr/>
        </p:nvSpPr>
        <p:spPr>
          <a:xfrm>
            <a:off x="6537960" y="1965960"/>
            <a:ext cx="457200" cy="457200"/>
          </a:xfrm>
          <a:prstGeom prst="ellipse">
            <a:avLst/>
          </a:prstGeom>
          <a:solidFill>
            <a:srgbClr val="B85042"/>
          </a:solidFill>
          <a:ln/>
        </p:spPr>
      </p:sp>
      <p:sp>
        <p:nvSpPr>
          <p:cNvPr id="11" name="Text 9"/>
          <p:cNvSpPr txBox="1"/>
          <p:nvPr/>
        </p:nvSpPr>
        <p:spPr>
          <a:xfrm>
            <a:off x="6537960"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12" name="Text 10"/>
          <p:cNvSpPr txBox="1"/>
          <p:nvPr/>
        </p:nvSpPr>
        <p:spPr>
          <a:xfrm>
            <a:off x="7178040" y="1965960"/>
            <a:ext cx="4160520" cy="45720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Missing Data Handling</a:t>
            </a:r>
            <a:endParaRPr lang="en-US" sz="1500" dirty="0"/>
          </a:p>
        </p:txBody>
      </p:sp>
      <p:sp>
        <p:nvSpPr>
          <p:cNvPr id="13" name="Text 11"/>
          <p:cNvSpPr txBox="1"/>
          <p:nvPr/>
        </p:nvSpPr>
        <p:spPr>
          <a:xfrm>
            <a:off x="6537960" y="2560320"/>
            <a:ext cx="4800600" cy="960120"/>
          </a:xfrm>
          <a:prstGeom prst="rect">
            <a:avLst/>
          </a:prstGeom>
          <a:noFill/>
          <a:ln/>
        </p:spPr>
        <p:txBody>
          <a:bodyPr wrap="square" lIns="0" tIns="0" rIns="0" bIns="0" rtlCol="0" anchor="t"/>
          <a:lstStyle/>
          <a:p>
            <a:r>
              <a:rPr lang="en-US" sz="1200" dirty="0">
                <a:solidFill>
                  <a:srgbClr val="2E2420"/>
                </a:solidFill>
                <a:latin typeface="Calibri" pitchFamily="34" charset="0"/>
                <a:ea typeface="Calibri" pitchFamily="34" charset="-122"/>
                <a:cs typeface="Calibri" pitchFamily="34" charset="-120"/>
              </a:rPr>
              <a:t>Waterfront, view, basement size, and renovation year each have gaps (roughly 0.3%–18% missing). Missing basement size/waterfront/view is treated as "not present" rather than dropped; missing renovation year is treated as "never renovated." Rows missing core fields (price,  location) are excluded.</a:t>
            </a:r>
            <a:endParaRPr lang="en-US" sz="1200" b="1" dirty="0">
              <a:solidFill>
                <a:srgbClr val="2E2420"/>
              </a:solidFill>
              <a:latin typeface="Calibri" pitchFamily="34" charset="0"/>
              <a:ea typeface="Calibri" pitchFamily="34" charset="-122"/>
              <a:cs typeface="Calibri" pitchFamily="34" charset="-120"/>
            </a:endParaRPr>
          </a:p>
          <a:p>
            <a:pPr marL="0" indent="0">
              <a:buNone/>
            </a:pPr>
            <a:endParaRPr lang="en-US" sz="1200" dirty="0"/>
          </a:p>
        </p:txBody>
      </p:sp>
      <p:sp>
        <p:nvSpPr>
          <p:cNvPr id="14" name="Shape 12"/>
          <p:cNvSpPr/>
          <p:nvPr/>
        </p:nvSpPr>
        <p:spPr>
          <a:xfrm>
            <a:off x="548640" y="3977640"/>
            <a:ext cx="5349240" cy="2057400"/>
          </a:xfrm>
          <a:prstGeom prst="rect">
            <a:avLst/>
          </a:prstGeom>
          <a:solidFill>
            <a:srgbClr val="E7E8D1"/>
          </a:solidFill>
          <a:ln/>
        </p:spPr>
      </p:sp>
      <p:sp>
        <p:nvSpPr>
          <p:cNvPr id="15" name="Shape 13"/>
          <p:cNvSpPr/>
          <p:nvPr/>
        </p:nvSpPr>
        <p:spPr>
          <a:xfrm>
            <a:off x="822960" y="4251960"/>
            <a:ext cx="457200" cy="457200"/>
          </a:xfrm>
          <a:prstGeom prst="ellipse">
            <a:avLst/>
          </a:prstGeom>
          <a:solidFill>
            <a:srgbClr val="B85042"/>
          </a:solidFill>
          <a:ln/>
        </p:spPr>
      </p:sp>
      <p:sp>
        <p:nvSpPr>
          <p:cNvPr id="16" name="Text 14"/>
          <p:cNvSpPr txBox="1"/>
          <p:nvPr/>
        </p:nvSpPr>
        <p:spPr>
          <a:xfrm>
            <a:off x="822960" y="4251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N</a:t>
            </a:r>
            <a:endParaRPr lang="en-US" sz="1600" dirty="0"/>
          </a:p>
        </p:txBody>
      </p:sp>
      <p:sp>
        <p:nvSpPr>
          <p:cNvPr id="17" name="Text 15"/>
          <p:cNvSpPr txBox="1"/>
          <p:nvPr/>
        </p:nvSpPr>
        <p:spPr>
          <a:xfrm>
            <a:off x="1463040" y="4251960"/>
            <a:ext cx="4160520" cy="45720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Neighborhood Proxies</a:t>
            </a:r>
            <a:endParaRPr lang="en-US" sz="1500" dirty="0"/>
          </a:p>
        </p:txBody>
      </p:sp>
      <p:sp>
        <p:nvSpPr>
          <p:cNvPr id="18" name="Text 16"/>
          <p:cNvSpPr txBox="1"/>
          <p:nvPr/>
        </p:nvSpPr>
        <p:spPr>
          <a:xfrm>
            <a:off x="822960" y="4846320"/>
            <a:ext cx="4800600" cy="960120"/>
          </a:xfrm>
          <a:prstGeom prst="rect">
            <a:avLst/>
          </a:prstGeom>
          <a:noFill/>
          <a:ln/>
        </p:spPr>
        <p:txBody>
          <a:bodyPr wrap="square" lIns="0" tIns="0" rIns="0" bIns="0" rtlCol="0" anchor="t"/>
          <a:lstStyle/>
          <a:p>
            <a:pPr marL="0" indent="0">
              <a:buNone/>
            </a:pPr>
            <a:r>
              <a:rPr lang="en-US" sz="1200" dirty="0">
                <a:solidFill>
                  <a:srgbClr val="2E2420"/>
                </a:solidFill>
                <a:latin typeface="Calibri" pitchFamily="34" charset="0"/>
                <a:ea typeface="Calibri" pitchFamily="34" charset="-122"/>
                <a:cs typeface="Calibri" pitchFamily="34" charset="-120"/>
              </a:rPr>
              <a:t>The source data has no neighborhood name, school rating, or crime data. Zipcode and lat/long stand in as location proxies throughout </a:t>
            </a:r>
            <a:r>
              <a:rPr lang="en-US" sz="1200" b="1" dirty="0">
                <a:solidFill>
                  <a:srgbClr val="2E2420"/>
                </a:solidFill>
                <a:latin typeface="Calibri" pitchFamily="34" charset="0"/>
                <a:ea typeface="Calibri" pitchFamily="34" charset="-122"/>
                <a:cs typeface="Calibri" pitchFamily="34" charset="-120"/>
              </a:rPr>
              <a:t>— good enough to spot patterns, not to confirm "social" or "safe.“</a:t>
            </a:r>
          </a:p>
        </p:txBody>
      </p:sp>
      <p:sp>
        <p:nvSpPr>
          <p:cNvPr id="19" name="Shape 17"/>
          <p:cNvSpPr/>
          <p:nvPr/>
        </p:nvSpPr>
        <p:spPr>
          <a:xfrm>
            <a:off x="6263640" y="3977640"/>
            <a:ext cx="5349240" cy="2057400"/>
          </a:xfrm>
          <a:prstGeom prst="rect">
            <a:avLst/>
          </a:prstGeom>
          <a:solidFill>
            <a:srgbClr val="E7E8D1"/>
          </a:solidFill>
          <a:ln/>
        </p:spPr>
      </p:sp>
      <p:sp>
        <p:nvSpPr>
          <p:cNvPr id="20" name="Shape 18"/>
          <p:cNvSpPr/>
          <p:nvPr/>
        </p:nvSpPr>
        <p:spPr>
          <a:xfrm>
            <a:off x="6537960" y="4251960"/>
            <a:ext cx="457200" cy="457200"/>
          </a:xfrm>
          <a:prstGeom prst="ellipse">
            <a:avLst/>
          </a:prstGeom>
          <a:solidFill>
            <a:srgbClr val="B85042"/>
          </a:solidFill>
          <a:ln/>
        </p:spPr>
      </p:sp>
      <p:sp>
        <p:nvSpPr>
          <p:cNvPr id="21" name="Text 19"/>
          <p:cNvSpPr txBox="1"/>
          <p:nvPr/>
        </p:nvSpPr>
        <p:spPr>
          <a:xfrm>
            <a:off x="6537960" y="4251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V</a:t>
            </a:r>
            <a:endParaRPr lang="en-US" sz="1600" dirty="0"/>
          </a:p>
        </p:txBody>
      </p:sp>
      <p:sp>
        <p:nvSpPr>
          <p:cNvPr id="22" name="Text 20"/>
          <p:cNvSpPr txBox="1"/>
          <p:nvPr/>
        </p:nvSpPr>
        <p:spPr>
          <a:xfrm>
            <a:off x="7178040" y="4251960"/>
            <a:ext cx="4160520" cy="457200"/>
          </a:xfrm>
          <a:prstGeom prst="rect">
            <a:avLst/>
          </a:prstGeom>
          <a:noFill/>
          <a:ln/>
        </p:spPr>
        <p:txBody>
          <a:bodyPr wrap="square" lIns="0" tIns="0" rIns="0" bIns="0" rtlCol="0" anchor="ctr"/>
          <a:lstStyle/>
          <a:p>
            <a:pPr marL="0" indent="0">
              <a:buNone/>
            </a:pPr>
            <a:r>
              <a:rPr lang="en-US" sz="1500" b="1" dirty="0">
                <a:solidFill>
                  <a:srgbClr val="2E2420"/>
                </a:solidFill>
                <a:latin typeface="Calibri" pitchFamily="34" charset="0"/>
                <a:ea typeface="Calibri" pitchFamily="34" charset="-122"/>
                <a:cs typeface="Calibri" pitchFamily="34" charset="-120"/>
              </a:rPr>
              <a:t>Validation Approach</a:t>
            </a:r>
            <a:endParaRPr lang="en-US" sz="1500" dirty="0"/>
          </a:p>
        </p:txBody>
      </p:sp>
      <p:sp>
        <p:nvSpPr>
          <p:cNvPr id="23" name="Text 21"/>
          <p:cNvSpPr txBox="1"/>
          <p:nvPr/>
        </p:nvSpPr>
        <p:spPr>
          <a:xfrm>
            <a:off x="6537960" y="4846320"/>
            <a:ext cx="4800600" cy="960120"/>
          </a:xfrm>
          <a:prstGeom prst="rect">
            <a:avLst/>
          </a:prstGeom>
          <a:noFill/>
          <a:ln/>
        </p:spPr>
        <p:txBody>
          <a:bodyPr wrap="square" lIns="0" tIns="0" rIns="0" bIns="0" rtlCol="0" anchor="t"/>
          <a:lstStyle/>
          <a:p>
            <a:pPr marL="0" indent="0">
              <a:buNone/>
            </a:pPr>
            <a:r>
              <a:rPr lang="en-US" sz="1200" dirty="0">
                <a:solidFill>
                  <a:srgbClr val="2E2420"/>
                </a:solidFill>
                <a:latin typeface="Calibri" pitchFamily="34" charset="0"/>
                <a:ea typeface="Calibri" pitchFamily="34" charset="-122"/>
                <a:cs typeface="Calibri" pitchFamily="34" charset="-120"/>
              </a:rPr>
              <a:t>Each hypothesis pairs one simple chart with a plain-English takeaway. Prices are aggregated to the zip code, total </a:t>
            </a:r>
            <a:r>
              <a:rPr lang="en-US" sz="1200" dirty="0" err="1">
                <a:solidFill>
                  <a:srgbClr val="2E2420"/>
                </a:solidFill>
                <a:latin typeface="Calibri" pitchFamily="34" charset="0"/>
                <a:ea typeface="Calibri" pitchFamily="34" charset="-122"/>
                <a:cs typeface="Calibri" pitchFamily="34" charset="-120"/>
              </a:rPr>
              <a:t>Sq.feet</a:t>
            </a:r>
            <a:r>
              <a:rPr lang="en-US" sz="1200" dirty="0">
                <a:solidFill>
                  <a:srgbClr val="2E2420"/>
                </a:solidFill>
                <a:latin typeface="Calibri" pitchFamily="34" charset="0"/>
                <a:ea typeface="Calibri" pitchFamily="34" charset="-122"/>
                <a:cs typeface="Calibri" pitchFamily="34" charset="-120"/>
              </a:rPr>
              <a:t> of the Hause or month level before plotting, to keep individual outlier sales from skewing the picture.</a:t>
            </a:r>
            <a:endParaRPr lang="en-US" sz="1200" dirty="0"/>
          </a:p>
        </p:txBody>
      </p:sp>
      <p:sp>
        <p:nvSpPr>
          <p:cNvPr id="24" name="Page Number 4"/>
          <p:cNvSpPr txBox="1"/>
          <p:nvPr/>
        </p:nvSpPr>
        <p:spPr>
          <a:xfrm>
            <a:off x="9966960" y="6263640"/>
            <a:ext cx="1402080" cy="320040"/>
          </a:xfrm>
          <a:prstGeom prst="rect">
            <a:avLst/>
          </a:prstGeom>
          <a:noFill/>
          <a:ln/>
        </p:spPr>
        <p:txBody>
          <a:bodyPr wrap="square" lIns="0" tIns="0" rIns="0" bIns="0" rtlCol="0" anchor="ctr"/>
          <a:lstStyle/>
          <a:p>
            <a:pPr lvl="0" algn="r"/>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4</a:t>
            </a:r>
          </a:p>
        </p:txBody>
      </p:sp>
      <p:sp>
        <p:nvSpPr>
          <p:cNvPr id="25" name="Footer 4"/>
          <p:cNvSpPr txBox="1"/>
          <p:nvPr/>
        </p:nvSpPr>
        <p:spPr>
          <a:xfrm>
            <a:off x="822960" y="6263640"/>
            <a:ext cx="9144000" cy="320040"/>
          </a:xfrm>
          <a:prstGeom prst="rect">
            <a:avLst/>
          </a:prstGeom>
          <a:noFill/>
          <a:ln/>
        </p:spPr>
        <p:txBody>
          <a:bodyPr wrap="square" lIns="0" tIns="0" rIns="0" bIns="0" rtlCol="0" anchor="ctr"/>
          <a:lstStyle/>
          <a:p>
            <a:pPr lvl="0" algn="l"/>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Daniel H. Chercos ·  Kompass Analytics  ·  Hamburg, Germany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2400" b="1" dirty="0">
                <a:solidFill>
                  <a:srgbClr val="2E2420"/>
                </a:solidFill>
                <a:latin typeface="Cambria" pitchFamily="34" charset="0"/>
                <a:ea typeface="Cambria" pitchFamily="34" charset="-122"/>
                <a:cs typeface="Cambria" pitchFamily="34" charset="-120"/>
              </a:rPr>
              <a:t>Where does a family get more bedrooms for the dollar?</a:t>
            </a:r>
            <a:endParaRPr lang="en-US" sz="2400" dirty="0"/>
          </a:p>
        </p:txBody>
      </p:sp>
      <p:sp>
        <p:nvSpPr>
          <p:cNvPr id="3" name="Text 1"/>
          <p:cNvSpPr txBox="1"/>
          <p:nvPr/>
        </p:nvSpPr>
        <p:spPr>
          <a:xfrm>
            <a:off x="548640" y="1005840"/>
            <a:ext cx="4572000" cy="320040"/>
          </a:xfrm>
          <a:prstGeom prst="rect">
            <a:avLst/>
          </a:prstGeom>
          <a:noFill/>
          <a:ln/>
        </p:spPr>
        <p:txBody>
          <a:bodyPr wrap="square" lIns="0" tIns="0" rIns="0" bIns="0" rtlCol="0" anchor="ctr"/>
          <a:lstStyle/>
          <a:p>
            <a:pPr marL="0" indent="0">
              <a:buNone/>
            </a:pPr>
            <a:r>
              <a:rPr lang="en-US" sz="1100" b="1" kern="0" spc="100" dirty="0">
                <a:solidFill>
                  <a:srgbClr val="B85042"/>
                </a:solidFill>
                <a:latin typeface="Calibri" pitchFamily="34" charset="0"/>
                <a:ea typeface="Calibri" pitchFamily="34" charset="-122"/>
                <a:cs typeface="Calibri" pitchFamily="34" charset="-120"/>
              </a:rPr>
              <a:t>HYPOTHESIS 1</a:t>
            </a:r>
            <a:endParaRPr lang="en-US" sz="1100" dirty="0"/>
          </a:p>
        </p:txBody>
      </p:sp>
      <p:sp>
        <p:nvSpPr>
          <p:cNvPr id="5" name="Shape 2"/>
          <p:cNvSpPr/>
          <p:nvPr/>
        </p:nvSpPr>
        <p:spPr>
          <a:xfrm>
            <a:off x="8046719" y="2077789"/>
            <a:ext cx="3566161" cy="4297680"/>
          </a:xfrm>
          <a:prstGeom prst="rect">
            <a:avLst/>
          </a:prstGeom>
          <a:solidFill>
            <a:srgbClr val="E7E8D1"/>
          </a:solidFill>
          <a:ln/>
        </p:spPr>
        <p:txBody>
          <a:bodyPr/>
          <a:lstStyle/>
          <a:p>
            <a:endParaRPr lang="en-US" dirty="0"/>
          </a:p>
        </p:txBody>
      </p:sp>
      <p:sp>
        <p:nvSpPr>
          <p:cNvPr id="6" name="Text 3"/>
          <p:cNvSpPr txBox="1"/>
          <p:nvPr/>
        </p:nvSpPr>
        <p:spPr>
          <a:xfrm>
            <a:off x="8173583" y="2077789"/>
            <a:ext cx="3108960" cy="365760"/>
          </a:xfrm>
          <a:prstGeom prst="rect">
            <a:avLst/>
          </a:prstGeom>
          <a:noFill/>
          <a:ln/>
        </p:spPr>
        <p:txBody>
          <a:bodyPr wrap="square" lIns="0" tIns="0" rIns="0" bIns="0" rtlCol="0" anchor="ctr"/>
          <a:lstStyle/>
          <a:p>
            <a:pPr marL="0" indent="0">
              <a:buNone/>
            </a:pPr>
            <a:r>
              <a:rPr lang="en-US" sz="1300" b="1" dirty="0">
                <a:solidFill>
                  <a:srgbClr val="2E2420"/>
                </a:solidFill>
                <a:latin typeface="Calibri" pitchFamily="34" charset="0"/>
                <a:ea typeface="Calibri" pitchFamily="34" charset="-122"/>
                <a:cs typeface="Calibri" pitchFamily="34" charset="-120"/>
              </a:rPr>
              <a:t>Reading it</a:t>
            </a:r>
            <a:endParaRPr lang="en-US" sz="1300" dirty="0"/>
          </a:p>
        </p:txBody>
      </p:sp>
      <p:sp>
        <p:nvSpPr>
          <p:cNvPr id="7" name="Text 4"/>
          <p:cNvSpPr txBox="1"/>
          <p:nvPr/>
        </p:nvSpPr>
        <p:spPr>
          <a:xfrm>
            <a:off x="8293237" y="2174429"/>
            <a:ext cx="3108960" cy="1417320"/>
          </a:xfrm>
          <a:prstGeom prst="rect">
            <a:avLst/>
          </a:prstGeom>
          <a:noFill/>
          <a:ln/>
        </p:spPr>
        <p:txBody>
          <a:bodyPr wrap="square" lIns="0" tIns="0" rIns="0" bIns="0" rtlCol="0" anchor="ctr"/>
          <a:lstStyle/>
          <a:p>
            <a:r>
              <a:rPr lang="en-US" sz="1250" dirty="0">
                <a:solidFill>
                  <a:srgbClr val="2E2420"/>
                </a:solidFill>
                <a:latin typeface="Calibri" pitchFamily="34" charset="0"/>
                <a:ea typeface="Calibri" pitchFamily="34" charset="-122"/>
                <a:cs typeface="Calibri" pitchFamily="34" charset="-120"/>
              </a:rPr>
              <a:t>Data showed that there is significant price differences per unit square foot across Neighborhood Setting .</a:t>
            </a:r>
            <a:endParaRPr lang="en-US" sz="1250" dirty="0"/>
          </a:p>
        </p:txBody>
      </p:sp>
      <p:sp>
        <p:nvSpPr>
          <p:cNvPr id="8" name="Text 5"/>
          <p:cNvSpPr txBox="1"/>
          <p:nvPr/>
        </p:nvSpPr>
        <p:spPr>
          <a:xfrm>
            <a:off x="8173583" y="3373086"/>
            <a:ext cx="3195457" cy="411480"/>
          </a:xfrm>
          <a:prstGeom prst="rect">
            <a:avLst/>
          </a:prstGeom>
          <a:noFill/>
          <a:ln/>
        </p:spPr>
        <p:txBody>
          <a:bodyPr wrap="square" lIns="0" tIns="0" rIns="0" bIns="0" rtlCol="0" anchor="ctr"/>
          <a:lstStyle/>
          <a:p>
            <a:pPr marL="0" indent="0">
              <a:buNone/>
            </a:pPr>
            <a:r>
              <a:rPr lang="nl-BE" sz="1300" b="1" dirty="0">
                <a:solidFill>
                  <a:srgbClr val="2E2420"/>
                </a:solidFill>
                <a:latin typeface="Calibri" pitchFamily="34" charset="0"/>
                <a:cs typeface="Calibri" pitchFamily="34" charset="-120"/>
              </a:rPr>
              <a:t>Recommandation</a:t>
            </a:r>
            <a:endParaRPr lang="en-US" sz="1300" dirty="0"/>
          </a:p>
        </p:txBody>
      </p:sp>
      <p:sp>
        <p:nvSpPr>
          <p:cNvPr id="9" name="Text 6"/>
          <p:cNvSpPr txBox="1"/>
          <p:nvPr/>
        </p:nvSpPr>
        <p:spPr>
          <a:xfrm>
            <a:off x="8293237" y="4216435"/>
            <a:ext cx="2843291" cy="1508760"/>
          </a:xfrm>
          <a:prstGeom prst="rect">
            <a:avLst/>
          </a:prstGeom>
          <a:noFill/>
          <a:ln/>
        </p:spPr>
        <p:txBody>
          <a:bodyPr wrap="square" lIns="0" tIns="0" rIns="0" bIns="0" rtlCol="0" anchor="ctr"/>
          <a:lstStyle/>
          <a:p>
            <a:pPr marL="0" indent="0">
              <a:buNone/>
            </a:pPr>
            <a:r>
              <a:rPr lang="en-US" sz="1250" dirty="0">
                <a:solidFill>
                  <a:srgbClr val="2E2420"/>
                </a:solidFill>
                <a:latin typeface="Calibri" pitchFamily="34" charset="0"/>
                <a:ea typeface="Calibri" pitchFamily="34" charset="-122"/>
                <a:cs typeface="Calibri" pitchFamily="34" charset="-120"/>
              </a:rPr>
              <a:t>Mr. Tomas should consider buying home in </a:t>
            </a:r>
            <a:r>
              <a:rPr lang="en-US" sz="1250" b="1" dirty="0">
                <a:solidFill>
                  <a:srgbClr val="2E2420"/>
                </a:solidFill>
                <a:latin typeface="Calibri" pitchFamily="34" charset="0"/>
                <a:ea typeface="Calibri" pitchFamily="34" charset="-122"/>
                <a:cs typeface="Calibri" pitchFamily="34" charset="-120"/>
              </a:rPr>
              <a:t>Rural part </a:t>
            </a:r>
            <a:r>
              <a:rPr lang="en-US" sz="1250" dirty="0">
                <a:solidFill>
                  <a:srgbClr val="2E2420"/>
                </a:solidFill>
                <a:latin typeface="Calibri" pitchFamily="34" charset="0"/>
                <a:ea typeface="Calibri" pitchFamily="34" charset="-122"/>
                <a:cs typeface="Calibri" pitchFamily="34" charset="-120"/>
              </a:rPr>
              <a:t>of  king county.</a:t>
            </a:r>
          </a:p>
          <a:p>
            <a:pPr marL="0" indent="0">
              <a:buNone/>
            </a:pPr>
            <a:endParaRPr lang="en-US" sz="1250" dirty="0">
              <a:solidFill>
                <a:srgbClr val="2E2420"/>
              </a:solidFill>
              <a:latin typeface="Calibri" pitchFamily="34" charset="0"/>
              <a:ea typeface="Calibri" pitchFamily="34" charset="-122"/>
              <a:cs typeface="Calibri" pitchFamily="34" charset="-120"/>
            </a:endParaRPr>
          </a:p>
          <a:p>
            <a:pPr marL="0" indent="0">
              <a:buNone/>
            </a:pPr>
            <a:r>
              <a:rPr lang="en-US" sz="1250" dirty="0">
                <a:solidFill>
                  <a:srgbClr val="2E2420"/>
                </a:solidFill>
                <a:latin typeface="Calibri" pitchFamily="34" charset="0"/>
                <a:cs typeface="Calibri" pitchFamily="34" charset="-120"/>
              </a:rPr>
              <a:t>Suggested Zip codes</a:t>
            </a:r>
          </a:p>
          <a:p>
            <a:pPr marL="0" indent="0">
              <a:buNone/>
            </a:pPr>
            <a:endParaRPr lang="en-US" sz="1250" dirty="0">
              <a:solidFill>
                <a:srgbClr val="2E2420"/>
              </a:solidFill>
              <a:latin typeface="Calibri" pitchFamily="34" charset="0"/>
              <a:cs typeface="Calibri" pitchFamily="34" charset="-120"/>
            </a:endParaRPr>
          </a:p>
          <a:p>
            <a:pPr marL="0" indent="0">
              <a:buNone/>
            </a:pPr>
            <a:r>
              <a:rPr lang="en-US" sz="1250" dirty="0"/>
              <a:t>98014	Carnation</a:t>
            </a:r>
          </a:p>
          <a:p>
            <a:pPr marL="0" indent="0">
              <a:buNone/>
            </a:pPr>
            <a:r>
              <a:rPr lang="en-US" sz="1250" dirty="0"/>
              <a:t>98022	Enumclaw</a:t>
            </a:r>
          </a:p>
          <a:p>
            <a:pPr marL="0" indent="0">
              <a:buNone/>
            </a:pPr>
            <a:r>
              <a:rPr lang="en-US" sz="1250" dirty="0"/>
              <a:t>98045	North Bend</a:t>
            </a:r>
          </a:p>
          <a:p>
            <a:pPr marL="0" indent="0">
              <a:buNone/>
            </a:pPr>
            <a:r>
              <a:rPr lang="en-US" sz="1250" dirty="0"/>
              <a:t>98070	Vashon Island</a:t>
            </a:r>
          </a:p>
        </p:txBody>
      </p:sp>
      <p:sp>
        <p:nvSpPr>
          <p:cNvPr id="10" name="Page Number 5"/>
          <p:cNvSpPr txBox="1"/>
          <p:nvPr/>
        </p:nvSpPr>
        <p:spPr>
          <a:xfrm>
            <a:off x="9966960" y="6263640"/>
            <a:ext cx="1402080" cy="320040"/>
          </a:xfrm>
          <a:prstGeom prst="rect">
            <a:avLst/>
          </a:prstGeom>
          <a:noFill/>
          <a:ln/>
        </p:spPr>
        <p:txBody>
          <a:bodyPr wrap="square" lIns="0" tIns="0" rIns="0" bIns="0" rtlCol="0" anchor="ctr"/>
          <a:lstStyle/>
          <a:p>
            <a:pPr lvl="0" algn="r"/>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5</a:t>
            </a:r>
          </a:p>
        </p:txBody>
      </p:sp>
      <p:sp>
        <p:nvSpPr>
          <p:cNvPr id="11" name="Footer 5"/>
          <p:cNvSpPr txBox="1"/>
          <p:nvPr/>
        </p:nvSpPr>
        <p:spPr>
          <a:xfrm>
            <a:off x="822960" y="6263640"/>
            <a:ext cx="9144000" cy="320040"/>
          </a:xfrm>
          <a:prstGeom prst="rect">
            <a:avLst/>
          </a:prstGeom>
          <a:noFill/>
          <a:ln/>
        </p:spPr>
        <p:txBody>
          <a:bodyPr wrap="square" lIns="0" tIns="0" rIns="0" bIns="0" rtlCol="0" anchor="ctr"/>
          <a:lstStyle/>
          <a:p>
            <a:pPr lvl="0" algn="l"/>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Daniel H. Chercos ·  Kompass Analytics  ·  Hamburg, Germany</a:t>
            </a:r>
          </a:p>
        </p:txBody>
      </p:sp>
      <p:pic>
        <p:nvPicPr>
          <p:cNvPr id="14" name="Picture 13">
            <a:extLst>
              <a:ext uri="{FF2B5EF4-FFF2-40B4-BE49-F238E27FC236}">
                <a16:creationId xmlns:a16="http://schemas.microsoft.com/office/drawing/2014/main" id="{EEAAAC3A-5E8C-0466-5556-5E81D116C711}"/>
              </a:ext>
            </a:extLst>
          </p:cNvPr>
          <p:cNvPicPr>
            <a:picLocks noChangeAspect="1"/>
          </p:cNvPicPr>
          <p:nvPr/>
        </p:nvPicPr>
        <p:blipFill>
          <a:blip r:embed="rId3"/>
          <a:stretch>
            <a:fillRect/>
          </a:stretch>
        </p:blipFill>
        <p:spPr>
          <a:xfrm>
            <a:off x="106423" y="1396365"/>
            <a:ext cx="7823319" cy="4933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2400" b="1" dirty="0">
                <a:solidFill>
                  <a:srgbClr val="2E2420"/>
                </a:solidFill>
                <a:latin typeface="Cambria" pitchFamily="34" charset="0"/>
                <a:ea typeface="Cambria" pitchFamily="34" charset="-122"/>
                <a:cs typeface="Cambria" pitchFamily="34" charset="-120"/>
              </a:rPr>
              <a:t>Is there a cheaper month to buy?</a:t>
            </a:r>
            <a:endParaRPr lang="en-US" sz="2400" dirty="0"/>
          </a:p>
        </p:txBody>
      </p:sp>
      <p:sp>
        <p:nvSpPr>
          <p:cNvPr id="3" name="Text 1"/>
          <p:cNvSpPr txBox="1"/>
          <p:nvPr/>
        </p:nvSpPr>
        <p:spPr>
          <a:xfrm>
            <a:off x="548640" y="1005840"/>
            <a:ext cx="4572000" cy="320040"/>
          </a:xfrm>
          <a:prstGeom prst="rect">
            <a:avLst/>
          </a:prstGeom>
          <a:noFill/>
          <a:ln/>
        </p:spPr>
        <p:txBody>
          <a:bodyPr wrap="square" lIns="0" tIns="0" rIns="0" bIns="0" rtlCol="0" anchor="ctr"/>
          <a:lstStyle/>
          <a:p>
            <a:pPr marL="0" indent="0">
              <a:buNone/>
            </a:pPr>
            <a:r>
              <a:rPr lang="en-US" sz="1100" b="1" kern="0" spc="100" dirty="0">
                <a:solidFill>
                  <a:srgbClr val="B85042"/>
                </a:solidFill>
                <a:latin typeface="Calibri" pitchFamily="34" charset="0"/>
                <a:ea typeface="Calibri" pitchFamily="34" charset="-122"/>
                <a:cs typeface="Calibri" pitchFamily="34" charset="-120"/>
              </a:rPr>
              <a:t>HYPOTHESIS 2</a:t>
            </a:r>
            <a:endParaRPr lang="en-US" sz="1100" dirty="0"/>
          </a:p>
        </p:txBody>
      </p:sp>
      <p:sp>
        <p:nvSpPr>
          <p:cNvPr id="5" name="Shape 2"/>
          <p:cNvSpPr/>
          <p:nvPr/>
        </p:nvSpPr>
        <p:spPr>
          <a:xfrm>
            <a:off x="8686800" y="1508760"/>
            <a:ext cx="2926080" cy="4297680"/>
          </a:xfrm>
          <a:prstGeom prst="rect">
            <a:avLst/>
          </a:prstGeom>
          <a:solidFill>
            <a:srgbClr val="E7E8D1"/>
          </a:solidFill>
          <a:ln/>
        </p:spPr>
      </p:sp>
      <p:sp>
        <p:nvSpPr>
          <p:cNvPr id="6" name="Text 3"/>
          <p:cNvSpPr txBox="1"/>
          <p:nvPr/>
        </p:nvSpPr>
        <p:spPr>
          <a:xfrm>
            <a:off x="8961120" y="2010444"/>
            <a:ext cx="2377440" cy="365760"/>
          </a:xfrm>
          <a:prstGeom prst="rect">
            <a:avLst/>
          </a:prstGeom>
          <a:noFill/>
          <a:ln/>
        </p:spPr>
        <p:txBody>
          <a:bodyPr wrap="square" lIns="0" tIns="0" rIns="0" bIns="0" rtlCol="0" anchor="ctr"/>
          <a:lstStyle/>
          <a:p>
            <a:pPr marL="0" indent="0">
              <a:buNone/>
            </a:pPr>
            <a:r>
              <a:rPr lang="en-US" sz="1300" b="1" dirty="0">
                <a:solidFill>
                  <a:srgbClr val="2E2420"/>
                </a:solidFill>
                <a:latin typeface="Calibri" pitchFamily="34" charset="0"/>
                <a:ea typeface="Calibri" pitchFamily="34" charset="-122"/>
                <a:cs typeface="Calibri" pitchFamily="34" charset="-120"/>
              </a:rPr>
              <a:t>Reading it</a:t>
            </a:r>
            <a:endParaRPr lang="en-US" sz="1300" dirty="0"/>
          </a:p>
        </p:txBody>
      </p:sp>
      <p:sp>
        <p:nvSpPr>
          <p:cNvPr id="7" name="Text 4"/>
          <p:cNvSpPr txBox="1"/>
          <p:nvPr/>
        </p:nvSpPr>
        <p:spPr>
          <a:xfrm>
            <a:off x="8961120" y="2148840"/>
            <a:ext cx="2377440" cy="1188720"/>
          </a:xfrm>
          <a:prstGeom prst="rect">
            <a:avLst/>
          </a:prstGeom>
          <a:noFill/>
          <a:ln/>
        </p:spPr>
        <p:txBody>
          <a:bodyPr wrap="square" lIns="0" tIns="0" rIns="0" bIns="0" rtlCol="0" anchor="ctr"/>
          <a:lstStyle/>
          <a:p>
            <a:pPr marL="0" indent="0">
              <a:buNone/>
            </a:pPr>
            <a:r>
              <a:rPr lang="en-US" sz="1250" dirty="0">
                <a:solidFill>
                  <a:srgbClr val="2E2420"/>
                </a:solidFill>
                <a:latin typeface="Calibri" pitchFamily="34" charset="0"/>
                <a:ea typeface="Calibri" pitchFamily="34" charset="-122"/>
                <a:cs typeface="Calibri" pitchFamily="34" charset="-120"/>
              </a:rPr>
              <a:t>The data showed fluctuation of housing price throughout the year. </a:t>
            </a:r>
            <a:endParaRPr lang="en-US" sz="1250" dirty="0"/>
          </a:p>
        </p:txBody>
      </p:sp>
      <p:sp>
        <p:nvSpPr>
          <p:cNvPr id="8" name="Text 5"/>
          <p:cNvSpPr txBox="1"/>
          <p:nvPr/>
        </p:nvSpPr>
        <p:spPr>
          <a:xfrm>
            <a:off x="8961120" y="3177540"/>
            <a:ext cx="2377440" cy="365760"/>
          </a:xfrm>
          <a:prstGeom prst="rect">
            <a:avLst/>
          </a:prstGeom>
          <a:noFill/>
          <a:ln/>
        </p:spPr>
        <p:txBody>
          <a:bodyPr wrap="square" lIns="0" tIns="0" rIns="0" bIns="0" rtlCol="0" anchor="ctr"/>
          <a:lstStyle/>
          <a:p>
            <a:pPr marL="0" indent="0">
              <a:buNone/>
            </a:pPr>
            <a:r>
              <a:rPr lang="en-US" sz="1300" b="1" dirty="0">
                <a:solidFill>
                  <a:srgbClr val="2E2420"/>
                </a:solidFill>
                <a:latin typeface="Calibri" pitchFamily="34" charset="0"/>
                <a:ea typeface="Calibri" pitchFamily="34" charset="-122"/>
                <a:cs typeface="Calibri" pitchFamily="34" charset="-120"/>
              </a:rPr>
              <a:t>Recommendation</a:t>
            </a:r>
            <a:endParaRPr lang="en-US" sz="1300" dirty="0"/>
          </a:p>
        </p:txBody>
      </p:sp>
      <p:sp>
        <p:nvSpPr>
          <p:cNvPr id="9" name="Text 6"/>
          <p:cNvSpPr txBox="1"/>
          <p:nvPr/>
        </p:nvSpPr>
        <p:spPr>
          <a:xfrm>
            <a:off x="8961120" y="3469778"/>
            <a:ext cx="2377440" cy="1645920"/>
          </a:xfrm>
          <a:prstGeom prst="rect">
            <a:avLst/>
          </a:prstGeom>
          <a:noFill/>
          <a:ln/>
        </p:spPr>
        <p:txBody>
          <a:bodyPr wrap="square" lIns="0" tIns="0" rIns="0" bIns="0" rtlCol="0" anchor="ctr"/>
          <a:lstStyle/>
          <a:p>
            <a:pPr marL="0" indent="0">
              <a:buNone/>
            </a:pPr>
            <a:r>
              <a:rPr lang="en-US" sz="1250" dirty="0">
                <a:solidFill>
                  <a:srgbClr val="2E2420"/>
                </a:solidFill>
                <a:latin typeface="Calibri" pitchFamily="34" charset="0"/>
                <a:ea typeface="Calibri" pitchFamily="34" charset="-122"/>
                <a:cs typeface="Calibri" pitchFamily="34" charset="-120"/>
              </a:rPr>
              <a:t>Assuming Mr. Tomas considering to buy in rural part of King County, the best time to buy is in </a:t>
            </a:r>
            <a:r>
              <a:rPr lang="en-US" sz="1250" b="1" dirty="0">
                <a:solidFill>
                  <a:srgbClr val="2E2420"/>
                </a:solidFill>
                <a:latin typeface="Calibri" pitchFamily="34" charset="0"/>
                <a:ea typeface="Calibri" pitchFamily="34" charset="-122"/>
                <a:cs typeface="Calibri" pitchFamily="34" charset="-120"/>
              </a:rPr>
              <a:t>November</a:t>
            </a:r>
            <a:r>
              <a:rPr lang="en-US" sz="1250" dirty="0">
                <a:solidFill>
                  <a:srgbClr val="2E2420"/>
                </a:solidFill>
                <a:latin typeface="Calibri" pitchFamily="34" charset="0"/>
                <a:ea typeface="Calibri" pitchFamily="34" charset="-122"/>
                <a:cs typeface="Calibri" pitchFamily="34" charset="-120"/>
              </a:rPr>
              <a:t>.</a:t>
            </a:r>
            <a:endParaRPr lang="en-US" sz="1250" dirty="0"/>
          </a:p>
        </p:txBody>
      </p:sp>
      <p:sp>
        <p:nvSpPr>
          <p:cNvPr id="10" name="Page Number 6"/>
          <p:cNvSpPr txBox="1"/>
          <p:nvPr/>
        </p:nvSpPr>
        <p:spPr>
          <a:xfrm>
            <a:off x="9966960" y="6263640"/>
            <a:ext cx="1402080" cy="320040"/>
          </a:xfrm>
          <a:prstGeom prst="rect">
            <a:avLst/>
          </a:prstGeom>
          <a:noFill/>
          <a:ln/>
        </p:spPr>
        <p:txBody>
          <a:bodyPr wrap="square" lIns="0" tIns="0" rIns="0" bIns="0" rtlCol="0" anchor="ctr"/>
          <a:lstStyle/>
          <a:p>
            <a:pPr lvl="0" algn="r"/>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6</a:t>
            </a:r>
          </a:p>
        </p:txBody>
      </p:sp>
      <p:sp>
        <p:nvSpPr>
          <p:cNvPr id="11" name="Footer 6"/>
          <p:cNvSpPr txBox="1"/>
          <p:nvPr/>
        </p:nvSpPr>
        <p:spPr>
          <a:xfrm>
            <a:off x="822960" y="6263640"/>
            <a:ext cx="9144000" cy="320040"/>
          </a:xfrm>
          <a:prstGeom prst="rect">
            <a:avLst/>
          </a:prstGeom>
          <a:noFill/>
          <a:ln/>
        </p:spPr>
        <p:txBody>
          <a:bodyPr wrap="square" lIns="0" tIns="0" rIns="0" bIns="0" rtlCol="0" anchor="ctr"/>
          <a:lstStyle/>
          <a:p>
            <a:pPr lvl="0" algn="l"/>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Daniel H. Chercos ·  Kompass Analytics  ·  Hamburg, Germany</a:t>
            </a:r>
          </a:p>
        </p:txBody>
      </p:sp>
      <p:pic>
        <p:nvPicPr>
          <p:cNvPr id="15" name="Picture 14">
            <a:extLst>
              <a:ext uri="{FF2B5EF4-FFF2-40B4-BE49-F238E27FC236}">
                <a16:creationId xmlns:a16="http://schemas.microsoft.com/office/drawing/2014/main" id="{CA294C3C-84D2-E4EA-1EDC-5C776A6CD72F}"/>
              </a:ext>
            </a:extLst>
          </p:cNvPr>
          <p:cNvPicPr>
            <a:picLocks noChangeAspect="1"/>
          </p:cNvPicPr>
          <p:nvPr/>
        </p:nvPicPr>
        <p:blipFill>
          <a:blip r:embed="rId3"/>
          <a:stretch>
            <a:fillRect/>
          </a:stretch>
        </p:blipFill>
        <p:spPr>
          <a:xfrm>
            <a:off x="652463" y="1552575"/>
            <a:ext cx="6924675" cy="46672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2400" b="1" dirty="0">
                <a:solidFill>
                  <a:srgbClr val="2E2420"/>
                </a:solidFill>
                <a:latin typeface="Cambria" pitchFamily="34" charset="0"/>
                <a:ea typeface="Cambria" pitchFamily="34" charset="-122"/>
                <a:cs typeface="Cambria" pitchFamily="34" charset="-120"/>
              </a:rPr>
              <a:t>Does a finished basement add space without adding much cost?</a:t>
            </a:r>
            <a:endParaRPr lang="en-US" sz="2400" dirty="0"/>
          </a:p>
        </p:txBody>
      </p:sp>
      <p:sp>
        <p:nvSpPr>
          <p:cNvPr id="3" name="Text 1"/>
          <p:cNvSpPr txBox="1"/>
          <p:nvPr/>
        </p:nvSpPr>
        <p:spPr>
          <a:xfrm>
            <a:off x="548640" y="1005840"/>
            <a:ext cx="4572000" cy="320040"/>
          </a:xfrm>
          <a:prstGeom prst="rect">
            <a:avLst/>
          </a:prstGeom>
          <a:noFill/>
          <a:ln/>
        </p:spPr>
        <p:txBody>
          <a:bodyPr wrap="square" lIns="0" tIns="0" rIns="0" bIns="0" rtlCol="0" anchor="ctr"/>
          <a:lstStyle/>
          <a:p>
            <a:pPr marL="0" indent="0">
              <a:buNone/>
            </a:pPr>
            <a:r>
              <a:rPr lang="en-US" sz="1100" b="1" kern="0" spc="100" dirty="0">
                <a:solidFill>
                  <a:srgbClr val="B85042"/>
                </a:solidFill>
                <a:latin typeface="Calibri" pitchFamily="34" charset="0"/>
                <a:ea typeface="Calibri" pitchFamily="34" charset="-122"/>
                <a:cs typeface="Calibri" pitchFamily="34" charset="-120"/>
              </a:rPr>
              <a:t>HYPOTHESIS 3</a:t>
            </a:r>
            <a:endParaRPr lang="en-US" sz="1100" dirty="0"/>
          </a:p>
        </p:txBody>
      </p:sp>
      <p:sp>
        <p:nvSpPr>
          <p:cNvPr id="5" name="Shape 2"/>
          <p:cNvSpPr/>
          <p:nvPr/>
        </p:nvSpPr>
        <p:spPr>
          <a:xfrm>
            <a:off x="8390238" y="1508760"/>
            <a:ext cx="3222642" cy="4297680"/>
          </a:xfrm>
          <a:prstGeom prst="rect">
            <a:avLst/>
          </a:prstGeom>
          <a:solidFill>
            <a:srgbClr val="E7E8D1"/>
          </a:solidFill>
          <a:ln/>
        </p:spPr>
      </p:sp>
      <p:sp>
        <p:nvSpPr>
          <p:cNvPr id="6" name="Text 3"/>
          <p:cNvSpPr txBox="1"/>
          <p:nvPr/>
        </p:nvSpPr>
        <p:spPr>
          <a:xfrm>
            <a:off x="8625840" y="1783080"/>
            <a:ext cx="3566160" cy="365760"/>
          </a:xfrm>
          <a:prstGeom prst="rect">
            <a:avLst/>
          </a:prstGeom>
          <a:noFill/>
          <a:ln/>
        </p:spPr>
        <p:txBody>
          <a:bodyPr wrap="square" lIns="0" tIns="0" rIns="0" bIns="0" rtlCol="0" anchor="ctr"/>
          <a:lstStyle/>
          <a:p>
            <a:pPr marL="0" indent="0">
              <a:buNone/>
            </a:pPr>
            <a:r>
              <a:rPr lang="en-US" sz="1300" b="1" dirty="0">
                <a:solidFill>
                  <a:srgbClr val="2E2420"/>
                </a:solidFill>
                <a:latin typeface="Calibri" pitchFamily="34" charset="0"/>
                <a:ea typeface="Calibri" pitchFamily="34" charset="-122"/>
                <a:cs typeface="Calibri" pitchFamily="34" charset="-120"/>
              </a:rPr>
              <a:t>Reading it</a:t>
            </a:r>
            <a:endParaRPr lang="en-US" sz="1300" dirty="0"/>
          </a:p>
        </p:txBody>
      </p:sp>
      <p:sp>
        <p:nvSpPr>
          <p:cNvPr id="7" name="Text 4"/>
          <p:cNvSpPr txBox="1"/>
          <p:nvPr/>
        </p:nvSpPr>
        <p:spPr>
          <a:xfrm>
            <a:off x="8625840" y="2135248"/>
            <a:ext cx="2743200" cy="1463040"/>
          </a:xfrm>
          <a:prstGeom prst="rect">
            <a:avLst/>
          </a:prstGeom>
          <a:noFill/>
          <a:ln/>
        </p:spPr>
        <p:txBody>
          <a:bodyPr wrap="square" lIns="0" tIns="0" rIns="0" bIns="0" rtlCol="0" anchor="ctr"/>
          <a:lstStyle/>
          <a:p>
            <a:pPr marL="0" indent="0">
              <a:buNone/>
            </a:pPr>
            <a:r>
              <a:rPr lang="en-US" sz="1250" dirty="0">
                <a:solidFill>
                  <a:srgbClr val="2E2420"/>
                </a:solidFill>
                <a:latin typeface="Calibri" pitchFamily="34" charset="0"/>
                <a:ea typeface="Calibri" pitchFamily="34" charset="-122"/>
                <a:cs typeface="Calibri" pitchFamily="34" charset="-120"/>
              </a:rPr>
              <a:t>The data showed that availability of basement increase the price of houses significantly.</a:t>
            </a:r>
            <a:endParaRPr lang="en-US" sz="1250" dirty="0"/>
          </a:p>
        </p:txBody>
      </p:sp>
      <p:sp>
        <p:nvSpPr>
          <p:cNvPr id="8" name="Text 5"/>
          <p:cNvSpPr txBox="1"/>
          <p:nvPr/>
        </p:nvSpPr>
        <p:spPr>
          <a:xfrm>
            <a:off x="8625840" y="3452479"/>
            <a:ext cx="3566160" cy="365760"/>
          </a:xfrm>
          <a:prstGeom prst="rect">
            <a:avLst/>
          </a:prstGeom>
          <a:noFill/>
          <a:ln/>
        </p:spPr>
        <p:txBody>
          <a:bodyPr wrap="square" lIns="0" tIns="0" rIns="0" bIns="0" rtlCol="0" anchor="ctr"/>
          <a:lstStyle/>
          <a:p>
            <a:pPr marL="0" indent="0">
              <a:buNone/>
            </a:pPr>
            <a:r>
              <a:rPr lang="en-US" sz="1300" b="1" dirty="0">
                <a:solidFill>
                  <a:srgbClr val="2E2420"/>
                </a:solidFill>
                <a:latin typeface="Calibri" pitchFamily="34" charset="0"/>
                <a:ea typeface="Calibri" pitchFamily="34" charset="-122"/>
                <a:cs typeface="Calibri" pitchFamily="34" charset="-120"/>
              </a:rPr>
              <a:t>Recommendation</a:t>
            </a:r>
            <a:endParaRPr lang="en-US" sz="1300" dirty="0"/>
          </a:p>
        </p:txBody>
      </p:sp>
      <p:sp>
        <p:nvSpPr>
          <p:cNvPr id="9" name="Text 6"/>
          <p:cNvSpPr txBox="1"/>
          <p:nvPr/>
        </p:nvSpPr>
        <p:spPr>
          <a:xfrm>
            <a:off x="8625840" y="3907208"/>
            <a:ext cx="2878301" cy="1339472"/>
          </a:xfrm>
          <a:prstGeom prst="rect">
            <a:avLst/>
          </a:prstGeom>
          <a:noFill/>
          <a:ln/>
        </p:spPr>
        <p:txBody>
          <a:bodyPr wrap="square" lIns="0" tIns="0" rIns="0" bIns="0" rtlCol="0" anchor="ctr"/>
          <a:lstStyle/>
          <a:p>
            <a:pPr marL="0" indent="0">
              <a:buNone/>
            </a:pPr>
            <a:r>
              <a:rPr lang="en-US" sz="1250" dirty="0">
                <a:solidFill>
                  <a:srgbClr val="2E2420"/>
                </a:solidFill>
                <a:latin typeface="Calibri" pitchFamily="34" charset="0"/>
                <a:ea typeface="Calibri" pitchFamily="34" charset="-122"/>
                <a:cs typeface="Calibri" pitchFamily="34" charset="-120"/>
              </a:rPr>
              <a:t>Given limited budget, we advise Mr. Tomas should consider houses </a:t>
            </a:r>
            <a:r>
              <a:rPr lang="en-US" sz="1250" b="1" dirty="0">
                <a:solidFill>
                  <a:srgbClr val="2E2420"/>
                </a:solidFill>
                <a:latin typeface="Calibri" pitchFamily="34" charset="0"/>
                <a:ea typeface="Calibri" pitchFamily="34" charset="-122"/>
                <a:cs typeface="Calibri" pitchFamily="34" charset="-120"/>
              </a:rPr>
              <a:t>without basement.</a:t>
            </a:r>
            <a:endParaRPr lang="en-US" sz="1250" b="1" dirty="0"/>
          </a:p>
        </p:txBody>
      </p:sp>
      <p:sp>
        <p:nvSpPr>
          <p:cNvPr id="10" name="Page Number 7"/>
          <p:cNvSpPr txBox="1"/>
          <p:nvPr/>
        </p:nvSpPr>
        <p:spPr>
          <a:xfrm>
            <a:off x="9966960" y="6263640"/>
            <a:ext cx="1402080" cy="320040"/>
          </a:xfrm>
          <a:prstGeom prst="rect">
            <a:avLst/>
          </a:prstGeom>
          <a:noFill/>
          <a:ln/>
        </p:spPr>
        <p:txBody>
          <a:bodyPr wrap="square" lIns="0" tIns="0" rIns="0" bIns="0" rtlCol="0" anchor="ctr"/>
          <a:lstStyle/>
          <a:p>
            <a:pPr lvl="0" algn="r"/>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7</a:t>
            </a:r>
          </a:p>
        </p:txBody>
      </p:sp>
      <p:sp>
        <p:nvSpPr>
          <p:cNvPr id="11" name="Footer 7"/>
          <p:cNvSpPr txBox="1"/>
          <p:nvPr/>
        </p:nvSpPr>
        <p:spPr>
          <a:xfrm>
            <a:off x="822960" y="6263640"/>
            <a:ext cx="9144000" cy="320040"/>
          </a:xfrm>
          <a:prstGeom prst="rect">
            <a:avLst/>
          </a:prstGeom>
          <a:noFill/>
          <a:ln/>
        </p:spPr>
        <p:txBody>
          <a:bodyPr wrap="square" lIns="0" tIns="0" rIns="0" bIns="0" rtlCol="0" anchor="ctr"/>
          <a:lstStyle/>
          <a:p>
            <a:pPr lvl="0" algn="l"/>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Daniel H. Chercos ·  Kompass Analytics  ·  Hamburg, Germany</a:t>
            </a:r>
          </a:p>
        </p:txBody>
      </p:sp>
      <p:pic>
        <p:nvPicPr>
          <p:cNvPr id="12" name="Picture 11">
            <a:extLst>
              <a:ext uri="{FF2B5EF4-FFF2-40B4-BE49-F238E27FC236}">
                <a16:creationId xmlns:a16="http://schemas.microsoft.com/office/drawing/2014/main" id="{D407B24E-5849-6923-471E-01732F7C4877}"/>
              </a:ext>
            </a:extLst>
          </p:cNvPr>
          <p:cNvPicPr>
            <a:picLocks noChangeAspect="1"/>
          </p:cNvPicPr>
          <p:nvPr/>
        </p:nvPicPr>
        <p:blipFill>
          <a:blip r:embed="rId3"/>
          <a:stretch>
            <a:fillRect/>
          </a:stretch>
        </p:blipFill>
        <p:spPr>
          <a:xfrm>
            <a:off x="202883" y="1596390"/>
            <a:ext cx="7515225" cy="46672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3A2B26"/>
        </a:solidFill>
        <a:effectLst/>
      </p:bgPr>
    </p:bg>
    <p:spTree>
      <p:nvGrpSpPr>
        <p:cNvPr id="1" name=""/>
        <p:cNvGrpSpPr/>
        <p:nvPr/>
      </p:nvGrpSpPr>
      <p:grpSpPr>
        <a:xfrm>
          <a:off x="0" y="0"/>
          <a:ext cx="0" cy="0"/>
          <a:chOff x="0" y="0"/>
          <a:chExt cx="0" cy="0"/>
        </a:xfrm>
      </p:grpSpPr>
      <p:sp>
        <p:nvSpPr>
          <p:cNvPr id="2" name="Shape 0"/>
          <p:cNvSpPr/>
          <p:nvPr/>
        </p:nvSpPr>
        <p:spPr>
          <a:xfrm>
            <a:off x="-1463040" y="-1463040"/>
            <a:ext cx="3657600" cy="3657600"/>
          </a:xfrm>
          <a:prstGeom prst="ellipse">
            <a:avLst/>
          </a:prstGeom>
          <a:solidFill>
            <a:srgbClr val="A7BEAE">
              <a:alpha val="40000"/>
            </a:srgbClr>
          </a:solidFill>
          <a:ln/>
        </p:spPr>
      </p:sp>
      <p:sp>
        <p:nvSpPr>
          <p:cNvPr id="3" name="Text 1"/>
          <p:cNvSpPr txBox="1"/>
          <p:nvPr/>
        </p:nvSpPr>
        <p:spPr>
          <a:xfrm>
            <a:off x="822960" y="640080"/>
            <a:ext cx="100584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Recommendation</a:t>
            </a:r>
            <a:endParaRPr lang="en-US" sz="3000" dirty="0"/>
          </a:p>
        </p:txBody>
      </p:sp>
      <p:sp>
        <p:nvSpPr>
          <p:cNvPr id="6" name="Text 4"/>
          <p:cNvSpPr txBox="1"/>
          <p:nvPr/>
        </p:nvSpPr>
        <p:spPr>
          <a:xfrm>
            <a:off x="1280160" y="2862072"/>
            <a:ext cx="9601200" cy="566928"/>
          </a:xfrm>
          <a:prstGeom prst="rect">
            <a:avLst/>
          </a:prstGeom>
          <a:noFill/>
          <a:ln/>
        </p:spPr>
        <p:txBody>
          <a:bodyPr wrap="square" lIns="0" tIns="0" rIns="0" bIns="0" rtlCol="0" anchor="ctr"/>
          <a:lstStyle/>
          <a:p>
            <a:pPr algn="ctr"/>
            <a:r>
              <a:rPr lang="en-US" dirty="0">
                <a:solidFill>
                  <a:schemeClr val="bg1"/>
                </a:solidFill>
              </a:rPr>
              <a:t>We advise Mr. Thomas Hanson to focus his search on homes without basements across Carnation (98014), Enumclaw (98022), North Bend (98045), and Vashon Island (98070). These specifications offer the best value for a large family, especially if the purchase is finalized during the high-savings month of November.</a:t>
            </a:r>
            <a:r>
              <a:rPr lang="en-US" sz="1500" dirty="0">
                <a:solidFill>
                  <a:srgbClr val="E7E8D1"/>
                </a:solidFill>
                <a:latin typeface="Calibri" pitchFamily="34" charset="0"/>
                <a:ea typeface="Calibri" pitchFamily="34" charset="-122"/>
                <a:cs typeface="Calibri" pitchFamily="34" charset="-120"/>
              </a:rPr>
              <a:t>.</a:t>
            </a:r>
            <a:endParaRPr lang="en-US" sz="1500" dirty="0"/>
          </a:p>
        </p:txBody>
      </p:sp>
      <p:sp>
        <p:nvSpPr>
          <p:cNvPr id="7" name="Page Number 8"/>
          <p:cNvSpPr txBox="1"/>
          <p:nvPr/>
        </p:nvSpPr>
        <p:spPr>
          <a:xfrm>
            <a:off x="9966960" y="6263640"/>
            <a:ext cx="1402080" cy="320040"/>
          </a:xfrm>
          <a:prstGeom prst="rect">
            <a:avLst/>
          </a:prstGeom>
          <a:noFill/>
          <a:ln/>
        </p:spPr>
        <p:txBody>
          <a:bodyPr wrap="square" lIns="0" tIns="0" rIns="0" bIns="0" rtlCol="0" anchor="ctr"/>
          <a:lstStyle/>
          <a:p>
            <a:pPr lvl="0" algn="r"/>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8</a:t>
            </a:r>
          </a:p>
        </p:txBody>
      </p:sp>
      <p:sp>
        <p:nvSpPr>
          <p:cNvPr id="8" name="Footer 8"/>
          <p:cNvSpPr txBox="1"/>
          <p:nvPr/>
        </p:nvSpPr>
        <p:spPr>
          <a:xfrm>
            <a:off x="822960" y="6263640"/>
            <a:ext cx="9144000" cy="320040"/>
          </a:xfrm>
          <a:prstGeom prst="rect">
            <a:avLst/>
          </a:prstGeom>
          <a:noFill/>
          <a:ln/>
        </p:spPr>
        <p:txBody>
          <a:bodyPr wrap="square" lIns="0" tIns="0" rIns="0" bIns="0" rtlCol="0" anchor="ctr"/>
          <a:lstStyle/>
          <a:p>
            <a:pPr lvl="0" algn="l"/>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Daniel H. Chercos ·  Kompass Analytics  ·  Hamburg, Germany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A2B26"/>
        </a:solidFill>
        <a:effectLst/>
      </p:bgPr>
    </p:bg>
    <p:spTree>
      <p:nvGrpSpPr>
        <p:cNvPr id="1" name=""/>
        <p:cNvGrpSpPr/>
        <p:nvPr/>
      </p:nvGrpSpPr>
      <p:grpSpPr>
        <a:xfrm>
          <a:off x="0" y="0"/>
          <a:ext cx="0" cy="0"/>
          <a:chOff x="0" y="0"/>
          <a:chExt cx="0" cy="0"/>
        </a:xfrm>
      </p:grpSpPr>
      <p:sp>
        <p:nvSpPr>
          <p:cNvPr id="2" name="Shape 0"/>
          <p:cNvSpPr/>
          <p:nvPr/>
        </p:nvSpPr>
        <p:spPr>
          <a:xfrm>
            <a:off x="9966960" y="4937760"/>
            <a:ext cx="3291840" cy="3291840"/>
          </a:xfrm>
          <a:prstGeom prst="ellipse">
            <a:avLst/>
          </a:prstGeom>
          <a:solidFill>
            <a:srgbClr val="B85042">
              <a:alpha val="45000"/>
            </a:srgbClr>
          </a:solidFill>
          <a:ln/>
        </p:spPr>
      </p:sp>
      <p:sp>
        <p:nvSpPr>
          <p:cNvPr id="3" name="Shape 1"/>
          <p:cNvSpPr/>
          <p:nvPr/>
        </p:nvSpPr>
        <p:spPr>
          <a:xfrm>
            <a:off x="-1371600" y="-1371600"/>
            <a:ext cx="2926080" cy="2926080"/>
          </a:xfrm>
          <a:prstGeom prst="ellipse">
            <a:avLst/>
          </a:prstGeom>
          <a:solidFill>
            <a:srgbClr val="A7BEAE">
              <a:alpha val="40000"/>
            </a:srgbClr>
          </a:solidFill>
          <a:ln/>
        </p:spPr>
      </p:sp>
      <p:sp>
        <p:nvSpPr>
          <p:cNvPr id="4" name="Text 2"/>
          <p:cNvSpPr txBox="1"/>
          <p:nvPr/>
        </p:nvSpPr>
        <p:spPr>
          <a:xfrm>
            <a:off x="822960" y="1828800"/>
            <a:ext cx="10515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THANK YOU FOR TOURING OUR HYPOTHESES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822960" y="2697480"/>
            <a:ext cx="98755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E7E8D1"/>
                </a:solidFill>
                <a:effectLst/>
                <a:uLnTx/>
                <a:uFillTx/>
                <a:latin typeface="Calibri" pitchFamily="34" charset="0"/>
                <a:ea typeface="Calibri" pitchFamily="34" charset="-122"/>
                <a:cs typeface="Calibri" pitchFamily="34" charset="-120"/>
              </a:rPr>
              <a:t>No open-house cookies here, but the data's fresh and the price is negotiable.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822960" y="3749040"/>
            <a:ext cx="91440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B85042"/>
                </a:solidFill>
                <a:effectLst/>
                <a:uLnTx/>
                <a:uFillTx/>
                <a:latin typeface="Cambria" pitchFamily="34" charset="0"/>
                <a:ea typeface="Cambria" pitchFamily="34" charset="-122"/>
                <a:cs typeface="Cambria" pitchFamily="34" charset="-120"/>
              </a:rPr>
              <a:t>Any Questions?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822960" y="4434840"/>
            <a:ext cx="8961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8D1"/>
                </a:solidFill>
                <a:effectLst/>
                <a:uLnTx/>
                <a:uFillTx/>
                <a:latin typeface="Calibri" pitchFamily="34" charset="0"/>
                <a:ea typeface="Calibri" pitchFamily="34" charset="-122"/>
                <a:cs typeface="Calibri" pitchFamily="34" charset="-120"/>
              </a:rPr>
              <a:t>Ask away — unlike this housing market, our door is always open (and we won't ask for 10% over asking).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822960" y="6263640"/>
            <a:ext cx="9144000" cy="320040"/>
          </a:xfrm>
          <a:prstGeom prst="rect">
            <a:avLst/>
          </a:prstGeom>
          <a:noFill/>
          <a:ln/>
        </p:spPr>
        <p:txBody>
          <a:bodyPr wrap="square" lIns="0" tIns="0" rIns="0" bIns="0" rtlCol="0" anchor="ctr"/>
          <a:lstStyle/>
          <a:p>
            <a:pPr lvl="0"/>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Daniel H. Chercos ·  Kompass Analytics  ·  Hamburg, Germany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Page Number 9"/>
          <p:cNvSpPr txBox="1"/>
          <p:nvPr/>
        </p:nvSpPr>
        <p:spPr>
          <a:xfrm>
            <a:off x="9966960" y="6263640"/>
            <a:ext cx="1402080" cy="320040"/>
          </a:xfrm>
          <a:prstGeom prst="rect">
            <a:avLst/>
          </a:prstGeom>
          <a:noFill/>
          <a:ln/>
        </p:spPr>
        <p:txBody>
          <a:bodyPr wrap="square" lIns="0" tIns="0" rIns="0" bIns="0" rtlCol="0" anchor="ctr"/>
          <a:lstStyle/>
          <a:p>
            <a:pPr lvl="0" algn="r"/>
            <a:r>
              <a:rPr kumimoji="0" lang="en-US" sz="1100" b="0" i="0" u="none" strike="noStrike" kern="0" cap="none" spc="100" normalizeH="0" baseline="0" noProof="0" dirty="0">
                <a:ln>
                  <a:noFill/>
                </a:ln>
                <a:solidFill>
                  <a:srgbClr val="8A7B73"/>
                </a:solidFill>
                <a:effectLst/>
                <a:uLnTx/>
                <a:uFillTx/>
                <a:latin typeface="Calibri" pitchFamily="34" charset="0"/>
                <a:ea typeface="Calibri" pitchFamily="34" charset="-122"/>
                <a:cs typeface="Calibri" pitchFamily="34" charset="-120"/>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TotalTime>
  <Words>766</Words>
  <Application>Microsoft Office PowerPoint</Application>
  <PresentationFormat>Widescreen</PresentationFormat>
  <Paragraphs>97</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Daniel Chercos</cp:lastModifiedBy>
  <cp:revision>24</cp:revision>
  <dcterms:created xsi:type="dcterms:W3CDTF">2026-09-15T15:50:18Z</dcterms:created>
  <dcterms:modified xsi:type="dcterms:W3CDTF">2026-09-18T09:26:28Z</dcterms:modified>
</cp:coreProperties>
</file>